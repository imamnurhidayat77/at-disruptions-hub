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ran this on my own, as an individual check, to see whether the SAP EHS and PO APIs really work when called from an app built with opencode. It is not a team decision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incidents and five PO items came back from the sandbox. The key was never present in any file the browser can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app only reads from SAP. Everything specific to disruptions, such as severity, owner and notices, lives in the app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Prompt 1 only creates the app. The SAP calls start working after the .env file holds a real key and the two sandbox prompts are run.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.env file is created by hand, not by opencode, so the key never appears in a prompt or in the chat history.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tell mock from live, rely on the mode label and on records beyond the first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limits should be stated openly in the final presentation.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rtlCol="0"/>
          <a:lstStyle>
            <a:lvl1pPr indent="0" marL="0">
              <a:buNone/>
              <a:defRPr lang="en-US" sz="3600" b="1" dirty="0">
                <a:solidFill>
                  <a:schemeClr val="tx2"/>
                </a:solidFill>
                <a:latin typeface="Cambria" pitchFamily="34" charset="0"/>
                <a:ea typeface="Cambria" pitchFamily="34" charset="-122"/>
                <a:cs typeface="Cambria" pitchFamily="34" charset="-120"/>
              </a:defRPr>
            </a:lvl1pPr>
          </a:lstStyle>
          <a:p>
            <a:pPr indent="0" marL="0">
              <a:buNone/>
            </a:pPr>
            <a:endParaRPr lang="en-US" sz="3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3.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3.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itle"/>
          <p:cNvSpPr txBox="1"/>
          <p:nvPr/>
        </p:nvSpPr>
        <p:spPr>
          <a:xfrm>
            <a:off x="640080" y="1005840"/>
            <a:ext cx="7863840" cy="1371600"/>
          </a:xfrm>
          <a:prstGeom prst="rect">
            <a:avLst/>
          </a:prstGeom>
          <a:noFill/>
          <a:ln/>
        </p:spPr>
        <p:txBody>
          <a:bodyPr wrap="square" lIns="0" tIns="0" rIns="0" bIns="0" rtlCol="0" anchor="t"/>
          <a:lstStyle/>
          <a:p>
            <a:pPr indent="0" marL="0">
              <a:buNone/>
            </a:pPr>
            <a:r>
              <a:rPr lang="en-US" sz="4000" b="1" dirty="0">
                <a:solidFill>
                  <a:schemeClr val="bg1"/>
                </a:solidFill>
                <a:latin typeface="Cambria" pitchFamily="34" charset="0"/>
                <a:ea typeface="Cambria" pitchFamily="34" charset="-122"/>
                <a:cs typeface="Cambria" pitchFamily="34" charset="-120"/>
              </a:rPr>
              <a:t>Testing SAP EHS and PO APIs from opencode.ai</a:t>
            </a:r>
            <a:endParaRPr lang="en-US" sz="4000" dirty="0"/>
          </a:p>
        </p:txBody>
      </p:sp>
      <p:sp>
        <p:nvSpPr>
          <p:cNvPr id="3" name="Subtitle"/>
          <p:cNvSpPr txBox="1"/>
          <p:nvPr/>
        </p:nvSpPr>
        <p:spPr>
          <a:xfrm>
            <a:off x="640080" y="2514600"/>
            <a:ext cx="7498080" cy="640080"/>
          </a:xfrm>
          <a:prstGeom prst="rect">
            <a:avLst/>
          </a:prstGeom>
          <a:noFill/>
          <a:ln/>
        </p:spPr>
        <p:txBody>
          <a:bodyPr wrap="square" lIns="0" tIns="0" rIns="0" bIns="0" rtlCol="0" anchor="ctr"/>
          <a:lstStyle/>
          <a:p>
            <a:pPr indent="0" marL="0">
              <a:buNone/>
            </a:pPr>
            <a:r>
              <a:rPr lang="en-US" sz="1800" dirty="0">
                <a:solidFill>
                  <a:schemeClr val="accent6"/>
                </a:solidFill>
                <a:latin typeface="Calibri" pitchFamily="34" charset="0"/>
                <a:ea typeface="Calibri" pitchFamily="34" charset="-122"/>
                <a:cs typeface="Calibri" pitchFamily="34" charset="-120"/>
              </a:rPr>
              <a:t>A personal verification experiment for the INFOSYS 704 A3 Disruption Hub app</a:t>
            </a:r>
            <a:endParaRPr lang="en-US" sz="1800" dirty="0"/>
          </a:p>
        </p:txBody>
      </p:sp>
      <p:sp>
        <p:nvSpPr>
          <p:cNvPr id="4" name="Chip 1"/>
          <p:cNvSpPr/>
          <p:nvPr/>
        </p:nvSpPr>
        <p:spPr>
          <a:xfrm>
            <a:off x="640080" y="3703320"/>
            <a:ext cx="2377440" cy="502920"/>
          </a:xfrm>
          <a:prstGeom prst="roundRect">
            <a:avLst>
              <a:gd name="adj" fmla="val 21818"/>
            </a:avLst>
          </a:prstGeom>
          <a:solidFill>
            <a:schemeClr val="accent1"/>
          </a:solidFill>
          <a:ln/>
        </p:spPr>
      </p:sp>
      <p:sp>
        <p:nvSpPr>
          <p:cNvPr id="5" name="Chip text 1"/>
          <p:cNvSpPr txBox="1"/>
          <p:nvPr/>
        </p:nvSpPr>
        <p:spPr>
          <a:xfrm>
            <a:off x="640080" y="3703320"/>
            <a:ext cx="237744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EHS Incident API</a:t>
            </a:r>
            <a:endParaRPr lang="en-US" sz="1400" dirty="0"/>
          </a:p>
        </p:txBody>
      </p:sp>
      <p:sp>
        <p:nvSpPr>
          <p:cNvPr id="6" name="Chip 2"/>
          <p:cNvSpPr/>
          <p:nvPr/>
        </p:nvSpPr>
        <p:spPr>
          <a:xfrm>
            <a:off x="3200400" y="3703320"/>
            <a:ext cx="2377440" cy="502920"/>
          </a:xfrm>
          <a:prstGeom prst="roundRect">
            <a:avLst>
              <a:gd name="adj" fmla="val 21818"/>
            </a:avLst>
          </a:prstGeom>
          <a:solidFill>
            <a:schemeClr val="accent1"/>
          </a:solidFill>
          <a:ln/>
        </p:spPr>
      </p:sp>
      <p:sp>
        <p:nvSpPr>
          <p:cNvPr id="7" name="Chip text 2"/>
          <p:cNvSpPr txBox="1"/>
          <p:nvPr/>
        </p:nvSpPr>
        <p:spPr>
          <a:xfrm>
            <a:off x="3200400" y="3703320"/>
            <a:ext cx="2377440" cy="502920"/>
          </a:xfrm>
          <a:prstGeom prst="rect">
            <a:avLst/>
          </a:prstGeom>
          <a:noFill/>
          <a:ln/>
        </p:spPr>
        <p:txBody>
          <a:bodyPr wrap="square" lIns="0" tIns="0" rIns="0" bIns="0" rtlCol="0" anchor="ctr"/>
          <a:lstStyle/>
          <a:p>
            <a:pPr algn="ctr" indent="0" marL="0">
              <a:buNone/>
            </a:pPr>
            <a:r>
              <a:rPr lang="en-US" sz="1400" b="1" dirty="0">
                <a:solidFill>
                  <a:schemeClr val="bg1"/>
                </a:solidFill>
                <a:latin typeface="Calibri" pitchFamily="34" charset="0"/>
                <a:ea typeface="Calibri" pitchFamily="34" charset="-122"/>
                <a:cs typeface="Calibri" pitchFamily="34" charset="-120"/>
              </a:rPr>
              <a:t>Purchase Order API</a:t>
            </a:r>
            <a:endParaRPr lang="en-US" sz="1400" dirty="0"/>
          </a:p>
        </p:txBody>
      </p:sp>
      <p:sp>
        <p:nvSpPr>
          <p:cNvPr id="8" name="Chip 3"/>
          <p:cNvSpPr/>
          <p:nvPr/>
        </p:nvSpPr>
        <p:spPr>
          <a:xfrm>
            <a:off x="5760720" y="3703320"/>
            <a:ext cx="1828800" cy="502920"/>
          </a:xfrm>
          <a:prstGeom prst="roundRect">
            <a:avLst>
              <a:gd name="adj" fmla="val 21818"/>
            </a:avLst>
          </a:prstGeom>
          <a:solidFill>
            <a:schemeClr val="accent2"/>
          </a:solidFill>
          <a:ln/>
        </p:spPr>
      </p:sp>
      <p:sp>
        <p:nvSpPr>
          <p:cNvPr id="9" name="Chip text 3"/>
          <p:cNvSpPr txBox="1"/>
          <p:nvPr/>
        </p:nvSpPr>
        <p:spPr>
          <a:xfrm>
            <a:off x="5760720" y="3703320"/>
            <a:ext cx="1828800" cy="502920"/>
          </a:xfrm>
          <a:prstGeom prst="rect">
            <a:avLst/>
          </a:prstGeom>
          <a:noFill/>
          <a:ln/>
        </p:spPr>
        <p:txBody>
          <a:bodyPr wrap="square" lIns="0" tIns="0" rIns="0" bIns="0" rtlCol="0" anchor="ctr"/>
          <a:lstStyle/>
          <a:p>
            <a:pPr algn="ctr" indent="0" marL="0">
              <a:buNone/>
            </a:pPr>
            <a:r>
              <a:rPr lang="en-US" sz="1400" b="1" dirty="0">
                <a:solidFill>
                  <a:schemeClr val="tx1"/>
                </a:solidFill>
                <a:latin typeface="Calibri" pitchFamily="34" charset="0"/>
                <a:ea typeface="Calibri" pitchFamily="34" charset="-122"/>
                <a:cs typeface="Calibri" pitchFamily="34" charset="-120"/>
              </a:rPr>
              <a:t>SAP sandbox</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Why this experiment</a:t>
            </a:r>
            <a:endParaRPr lang="en-US" sz="3600" dirty="0"/>
          </a:p>
        </p:txBody>
      </p:sp>
      <p:sp>
        <p:nvSpPr>
          <p:cNvPr id="3" name="Purpose"/>
          <p:cNvSpPr txBox="1"/>
          <p:nvPr/>
        </p:nvSpPr>
        <p:spPr>
          <a:xfrm>
            <a:off x="457200" y="1143000"/>
            <a:ext cx="8229600" cy="685800"/>
          </a:xfrm>
          <a:prstGeom prst="rect">
            <a:avLst/>
          </a:prstGeom>
          <a:noFill/>
          <a:ln/>
        </p:spPr>
        <p:txBody>
          <a:bodyPr wrap="square" lIns="0" tIns="0" rIns="0" bIns="0" rtlCol="0" anchor="t"/>
          <a:lstStyle/>
          <a:p>
            <a:pPr indent="0" marL="0">
              <a:buNone/>
            </a:pPr>
            <a:r>
              <a:rPr lang="en-US" sz="1800" dirty="0">
                <a:solidFill>
                  <a:schemeClr val="tx1"/>
                </a:solidFill>
                <a:latin typeface="Calibri" pitchFamily="34" charset="0"/>
                <a:ea typeface="Calibri" pitchFamily="34" charset="-122"/>
                <a:cs typeface="Calibri" pitchFamily="34" charset="-120"/>
              </a:rPr>
              <a:t>Before the team commits to an SAP design, one person checked that the API calls and responses work in practice, using only the SAP sandbox.</a:t>
            </a:r>
            <a:endParaRPr lang="en-US" sz="1800" dirty="0"/>
          </a:p>
        </p:txBody>
      </p:sp>
      <p:sp>
        <p:nvSpPr>
          <p:cNvPr id="4" name="Stat card 1"/>
          <p:cNvSpPr/>
          <p:nvPr/>
        </p:nvSpPr>
        <p:spPr>
          <a:xfrm>
            <a:off x="457200" y="2103120"/>
            <a:ext cx="1920240" cy="2286000"/>
          </a:xfrm>
          <a:prstGeom prst="roundRect">
            <a:avLst>
              <a:gd name="adj" fmla="val 4762"/>
            </a:avLst>
          </a:prstGeom>
          <a:solidFill>
            <a:schemeClr val="bg2"/>
          </a:solidFill>
          <a:ln/>
          <a:effectLst>
            <a:outerShdw sx="100000" sy="100000" kx="0" ky="0" algn="bl" rotWithShape="0" blurRad="101600" dist="25400" dir="5400000">
              <a:srgbClr val="000000">
                <a:alpha val="12000"/>
              </a:srgbClr>
            </a:outerShdw>
          </a:effectLst>
        </p:spPr>
      </p:sp>
      <p:sp>
        <p:nvSpPr>
          <p:cNvPr id="5" name="Stat number 1"/>
          <p:cNvSpPr txBox="1"/>
          <p:nvPr/>
        </p:nvSpPr>
        <p:spPr>
          <a:xfrm>
            <a:off x="457200" y="2240280"/>
            <a:ext cx="1920240" cy="914400"/>
          </a:xfrm>
          <a:prstGeom prst="rect">
            <a:avLst/>
          </a:prstGeom>
          <a:noFill/>
          <a:ln/>
        </p:spPr>
        <p:txBody>
          <a:bodyPr wrap="square" lIns="0" tIns="0" rIns="0" bIns="0" rtlCol="0" anchor="ctr"/>
          <a:lstStyle/>
          <a:p>
            <a:pPr algn="ctr" indent="0" marL="0">
              <a:buNone/>
            </a:pPr>
            <a:r>
              <a:rPr lang="en-US" sz="6000" b="1" dirty="0">
                <a:solidFill>
                  <a:schemeClr val="tx2"/>
                </a:solidFill>
                <a:latin typeface="Cambria" pitchFamily="34" charset="0"/>
                <a:ea typeface="Cambria" pitchFamily="34" charset="-122"/>
                <a:cs typeface="Cambria" pitchFamily="34" charset="-120"/>
              </a:rPr>
              <a:t>10</a:t>
            </a:r>
            <a:endParaRPr lang="en-US" sz="6000" dirty="0"/>
          </a:p>
        </p:txBody>
      </p:sp>
      <p:sp>
        <p:nvSpPr>
          <p:cNvPr id="6" name="Stat label 1"/>
          <p:cNvSpPr txBox="1"/>
          <p:nvPr/>
        </p:nvSpPr>
        <p:spPr>
          <a:xfrm>
            <a:off x="594360" y="3200400"/>
            <a:ext cx="1645920" cy="54864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EHS incidents returned</a:t>
            </a:r>
            <a:endParaRPr lang="en-US" sz="1400" dirty="0"/>
          </a:p>
        </p:txBody>
      </p:sp>
      <p:sp>
        <p:nvSpPr>
          <p:cNvPr id="7" name="Stat sub 1"/>
          <p:cNvSpPr txBox="1"/>
          <p:nvPr/>
        </p:nvSpPr>
        <p:spPr>
          <a:xfrm>
            <a:off x="594360" y="3794760"/>
            <a:ext cx="1645920" cy="45720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GET A_Incident</a:t>
            </a:r>
            <a:endParaRPr lang="en-US" sz="1100" dirty="0"/>
          </a:p>
        </p:txBody>
      </p:sp>
      <p:sp>
        <p:nvSpPr>
          <p:cNvPr id="8" name="Stat card 2"/>
          <p:cNvSpPr/>
          <p:nvPr/>
        </p:nvSpPr>
        <p:spPr>
          <a:xfrm>
            <a:off x="2560320" y="2103120"/>
            <a:ext cx="1920240" cy="2286000"/>
          </a:xfrm>
          <a:prstGeom prst="roundRect">
            <a:avLst>
              <a:gd name="adj" fmla="val 4762"/>
            </a:avLst>
          </a:prstGeom>
          <a:solidFill>
            <a:schemeClr val="bg2"/>
          </a:solidFill>
          <a:ln/>
          <a:effectLst>
            <a:outerShdw sx="100000" sy="100000" kx="0" ky="0" algn="bl" rotWithShape="0" blurRad="101600" dist="25400" dir="5400000">
              <a:srgbClr val="000000">
                <a:alpha val="12000"/>
              </a:srgbClr>
            </a:outerShdw>
          </a:effectLst>
        </p:spPr>
      </p:sp>
      <p:sp>
        <p:nvSpPr>
          <p:cNvPr id="9" name="Stat number 2"/>
          <p:cNvSpPr txBox="1"/>
          <p:nvPr/>
        </p:nvSpPr>
        <p:spPr>
          <a:xfrm>
            <a:off x="2560320" y="2240280"/>
            <a:ext cx="1920240" cy="914400"/>
          </a:xfrm>
          <a:prstGeom prst="rect">
            <a:avLst/>
          </a:prstGeom>
          <a:noFill/>
          <a:ln/>
        </p:spPr>
        <p:txBody>
          <a:bodyPr wrap="square" lIns="0" tIns="0" rIns="0" bIns="0" rtlCol="0" anchor="ctr"/>
          <a:lstStyle/>
          <a:p>
            <a:pPr algn="ctr" indent="0" marL="0">
              <a:buNone/>
            </a:pPr>
            <a:r>
              <a:rPr lang="en-US" sz="6000" b="1" dirty="0">
                <a:solidFill>
                  <a:schemeClr val="tx2"/>
                </a:solidFill>
                <a:latin typeface="Cambria" pitchFamily="34" charset="0"/>
                <a:ea typeface="Cambria" pitchFamily="34" charset="-122"/>
                <a:cs typeface="Cambria" pitchFamily="34" charset="-120"/>
              </a:rPr>
              <a:t>5</a:t>
            </a:r>
            <a:endParaRPr lang="en-US" sz="6000" dirty="0"/>
          </a:p>
        </p:txBody>
      </p:sp>
      <p:sp>
        <p:nvSpPr>
          <p:cNvPr id="10" name="Stat label 2"/>
          <p:cNvSpPr txBox="1"/>
          <p:nvPr/>
        </p:nvSpPr>
        <p:spPr>
          <a:xfrm>
            <a:off x="2697480" y="3200400"/>
            <a:ext cx="1645920" cy="54864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PO items returned</a:t>
            </a:r>
            <a:endParaRPr lang="en-US" sz="1400" dirty="0"/>
          </a:p>
        </p:txBody>
      </p:sp>
      <p:sp>
        <p:nvSpPr>
          <p:cNvPr id="11" name="Stat sub 2"/>
          <p:cNvSpPr txBox="1"/>
          <p:nvPr/>
        </p:nvSpPr>
        <p:spPr>
          <a:xfrm>
            <a:off x="2697480" y="3794760"/>
            <a:ext cx="1645920" cy="45720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GET A_PurchaseOrderItem</a:t>
            </a:r>
            <a:endParaRPr lang="en-US" sz="1100" dirty="0"/>
          </a:p>
        </p:txBody>
      </p:sp>
      <p:sp>
        <p:nvSpPr>
          <p:cNvPr id="12" name="Stat card 3"/>
          <p:cNvSpPr/>
          <p:nvPr/>
        </p:nvSpPr>
        <p:spPr>
          <a:xfrm>
            <a:off x="4663440" y="2103120"/>
            <a:ext cx="1920240" cy="2286000"/>
          </a:xfrm>
          <a:prstGeom prst="roundRect">
            <a:avLst>
              <a:gd name="adj" fmla="val 4762"/>
            </a:avLst>
          </a:prstGeom>
          <a:solidFill>
            <a:schemeClr val="bg2"/>
          </a:solidFill>
          <a:ln/>
          <a:effectLst>
            <a:outerShdw sx="100000" sy="100000" kx="0" ky="0" algn="bl" rotWithShape="0" blurRad="101600" dist="25400" dir="5400000">
              <a:srgbClr val="000000">
                <a:alpha val="12000"/>
              </a:srgbClr>
            </a:outerShdw>
          </a:effectLst>
        </p:spPr>
      </p:sp>
      <p:sp>
        <p:nvSpPr>
          <p:cNvPr id="13" name="Stat number 3"/>
          <p:cNvSpPr txBox="1"/>
          <p:nvPr/>
        </p:nvSpPr>
        <p:spPr>
          <a:xfrm>
            <a:off x="4663440" y="2240280"/>
            <a:ext cx="1920240" cy="914400"/>
          </a:xfrm>
          <a:prstGeom prst="rect">
            <a:avLst/>
          </a:prstGeom>
          <a:noFill/>
          <a:ln/>
        </p:spPr>
        <p:txBody>
          <a:bodyPr wrap="square" lIns="0" tIns="0" rIns="0" bIns="0" rtlCol="0" anchor="ctr"/>
          <a:lstStyle/>
          <a:p>
            <a:pPr algn="ctr" indent="0" marL="0">
              <a:buNone/>
            </a:pPr>
            <a:r>
              <a:rPr lang="en-US" sz="6000" b="1" dirty="0">
                <a:solidFill>
                  <a:schemeClr val="tx2"/>
                </a:solidFill>
                <a:latin typeface="Cambria" pitchFamily="34" charset="0"/>
                <a:ea typeface="Cambria" pitchFamily="34" charset="-122"/>
                <a:cs typeface="Cambria" pitchFamily="34" charset="-120"/>
              </a:rPr>
              <a:t>2</a:t>
            </a:r>
            <a:endParaRPr lang="en-US" sz="6000" dirty="0"/>
          </a:p>
        </p:txBody>
      </p:sp>
      <p:sp>
        <p:nvSpPr>
          <p:cNvPr id="14" name="Stat label 3"/>
          <p:cNvSpPr txBox="1"/>
          <p:nvPr/>
        </p:nvSpPr>
        <p:spPr>
          <a:xfrm>
            <a:off x="4800600" y="3200400"/>
            <a:ext cx="1645920" cy="54864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SAP APIs called by the app</a:t>
            </a:r>
            <a:endParaRPr lang="en-US" sz="1400" dirty="0"/>
          </a:p>
        </p:txBody>
      </p:sp>
      <p:sp>
        <p:nvSpPr>
          <p:cNvPr id="15" name="Stat sub 3"/>
          <p:cNvSpPr txBox="1"/>
          <p:nvPr/>
        </p:nvSpPr>
        <p:spPr>
          <a:xfrm>
            <a:off x="4800600" y="3794760"/>
            <a:ext cx="1645920" cy="45720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EHS Incident, Purchase Order</a:t>
            </a:r>
            <a:endParaRPr lang="en-US" sz="1100" dirty="0"/>
          </a:p>
        </p:txBody>
      </p:sp>
      <p:sp>
        <p:nvSpPr>
          <p:cNvPr id="16" name="Stat card 4"/>
          <p:cNvSpPr/>
          <p:nvPr/>
        </p:nvSpPr>
        <p:spPr>
          <a:xfrm>
            <a:off x="6766560" y="2103120"/>
            <a:ext cx="1920240" cy="2286000"/>
          </a:xfrm>
          <a:prstGeom prst="roundRect">
            <a:avLst>
              <a:gd name="adj" fmla="val 4762"/>
            </a:avLst>
          </a:prstGeom>
          <a:solidFill>
            <a:schemeClr val="bg2"/>
          </a:solidFill>
          <a:ln/>
          <a:effectLst>
            <a:outerShdw sx="100000" sy="100000" kx="0" ky="0" algn="bl" rotWithShape="0" blurRad="101600" dist="25400" dir="5400000">
              <a:srgbClr val="000000">
                <a:alpha val="12000"/>
              </a:srgbClr>
            </a:outerShdw>
          </a:effectLst>
        </p:spPr>
      </p:sp>
      <p:sp>
        <p:nvSpPr>
          <p:cNvPr id="17" name="Stat number 4"/>
          <p:cNvSpPr txBox="1"/>
          <p:nvPr/>
        </p:nvSpPr>
        <p:spPr>
          <a:xfrm>
            <a:off x="6766560" y="2240280"/>
            <a:ext cx="1920240" cy="914400"/>
          </a:xfrm>
          <a:prstGeom prst="rect">
            <a:avLst/>
          </a:prstGeom>
          <a:noFill/>
          <a:ln/>
        </p:spPr>
        <p:txBody>
          <a:bodyPr wrap="square" lIns="0" tIns="0" rIns="0" bIns="0" rtlCol="0" anchor="ctr"/>
          <a:lstStyle/>
          <a:p>
            <a:pPr algn="ctr" indent="0" marL="0">
              <a:buNone/>
            </a:pPr>
            <a:r>
              <a:rPr lang="en-US" sz="6000" b="1" dirty="0">
                <a:solidFill>
                  <a:schemeClr val="accent3"/>
                </a:solidFill>
                <a:latin typeface="Cambria" pitchFamily="34" charset="0"/>
                <a:ea typeface="Cambria" pitchFamily="34" charset="-122"/>
                <a:cs typeface="Cambria" pitchFamily="34" charset="-120"/>
              </a:rPr>
              <a:t>0</a:t>
            </a:r>
            <a:endParaRPr lang="en-US" sz="6000" dirty="0"/>
          </a:p>
        </p:txBody>
      </p:sp>
      <p:sp>
        <p:nvSpPr>
          <p:cNvPr id="18" name="Stat label 4"/>
          <p:cNvSpPr txBox="1"/>
          <p:nvPr/>
        </p:nvSpPr>
        <p:spPr>
          <a:xfrm>
            <a:off x="6903720" y="3200400"/>
            <a:ext cx="1645920" cy="548640"/>
          </a:xfrm>
          <a:prstGeom prst="rect">
            <a:avLst/>
          </a:prstGeom>
          <a:noFill/>
          <a:ln/>
        </p:spPr>
        <p:txBody>
          <a:bodyPr wrap="square" lIns="0" tIns="0" rIns="0" bIns="0" rtlCol="0" anchor="t"/>
          <a:lstStyle/>
          <a:p>
            <a:pPr algn="ctr" indent="0" marL="0">
              <a:buNone/>
            </a:pPr>
            <a:r>
              <a:rPr lang="en-US" sz="1400" b="1" dirty="0">
                <a:solidFill>
                  <a:schemeClr val="tx1"/>
                </a:solidFill>
                <a:latin typeface="Calibri" pitchFamily="34" charset="0"/>
                <a:ea typeface="Calibri" pitchFamily="34" charset="-122"/>
                <a:cs typeface="Calibri" pitchFamily="34" charset="-120"/>
              </a:rPr>
              <a:t>API keys in browser files</a:t>
            </a:r>
            <a:endParaRPr lang="en-US" sz="1400" dirty="0"/>
          </a:p>
        </p:txBody>
      </p:sp>
      <p:sp>
        <p:nvSpPr>
          <p:cNvPr id="19" name="Stat sub 4"/>
          <p:cNvSpPr txBox="1"/>
          <p:nvPr/>
        </p:nvSpPr>
        <p:spPr>
          <a:xfrm>
            <a:off x="6903720" y="3794760"/>
            <a:ext cx="1645920" cy="457200"/>
          </a:xfrm>
          <a:prstGeom prst="rect">
            <a:avLst/>
          </a:prstGeom>
          <a:noFill/>
          <a:ln/>
        </p:spPr>
        <p:txBody>
          <a:bodyPr wrap="square" lIns="0" tIns="0" rIns="0" bIns="0" rtlCol="0" anchor="t"/>
          <a:lstStyle/>
          <a:p>
            <a:pPr algn="ctr" indent="0" marL="0">
              <a:buNone/>
            </a:pPr>
            <a:r>
              <a:rPr lang="en-US" sz="1100" dirty="0">
                <a:solidFill>
                  <a:schemeClr val="accent4"/>
                </a:solidFill>
                <a:latin typeface="Calibri" pitchFamily="34" charset="0"/>
                <a:ea typeface="Calibri" pitchFamily="34" charset="-122"/>
                <a:cs typeface="Calibri" pitchFamily="34" charset="-120"/>
              </a:rPr>
              <a:t>key stays on the server</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How the app reaches SAP</a:t>
            </a:r>
            <a:endParaRPr lang="en-US" sz="3600" dirty="0"/>
          </a:p>
        </p:txBody>
      </p:sp>
      <p:sp>
        <p:nvSpPr>
          <p:cNvPr id="3" name="Box UI"/>
          <p:cNvSpPr/>
          <p:nvPr/>
        </p:nvSpPr>
        <p:spPr>
          <a:xfrm>
            <a:off x="457200" y="1371600"/>
            <a:ext cx="2103120" cy="1554480"/>
          </a:xfrm>
          <a:prstGeom prst="roundRect">
            <a:avLst>
              <a:gd name="adj" fmla="val 5882"/>
            </a:avLst>
          </a:prstGeom>
          <a:solidFill>
            <a:schemeClr val="accent4"/>
          </a:solidFill>
          <a:ln/>
          <a:effectLst>
            <a:outerShdw sx="100000" sy="100000" kx="0" ky="0" algn="bl" rotWithShape="0" blurRad="101600" dist="25400" dir="5400000">
              <a:srgbClr val="000000">
                <a:alpha val="12000"/>
              </a:srgbClr>
            </a:outerShdw>
          </a:effectLst>
        </p:spPr>
      </p:sp>
      <p:pic>
        <p:nvPicPr>
          <p:cNvPr id="4" name="Box UI icon" descr="preencoded.png">    </p:cNvPr>
          <p:cNvPicPr>
            <a:picLocks noChangeAspect="1"/>
          </p:cNvPicPr>
          <p:nvPr/>
        </p:nvPicPr>
        <p:blipFill>
          <a:blip r:embed="rId1"/>
          <a:stretch>
            <a:fillRect/>
          </a:stretch>
        </p:blipFill>
        <p:spPr>
          <a:xfrm>
            <a:off x="594360" y="1508760"/>
            <a:ext cx="365760" cy="365760"/>
          </a:xfrm>
          <a:prstGeom prst="rect">
            <a:avLst/>
          </a:prstGeom>
        </p:spPr>
      </p:pic>
      <p:sp>
        <p:nvSpPr>
          <p:cNvPr id="5" name="Box UI head"/>
          <p:cNvSpPr txBox="1"/>
          <p:nvPr/>
        </p:nvSpPr>
        <p:spPr>
          <a:xfrm>
            <a:off x="594360" y="1965960"/>
            <a:ext cx="1828800" cy="32004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Browser UI</a:t>
            </a:r>
            <a:endParaRPr lang="en-US" sz="1600" dirty="0"/>
          </a:p>
        </p:txBody>
      </p:sp>
      <p:sp>
        <p:nvSpPr>
          <p:cNvPr id="6" name="Box UI sub"/>
          <p:cNvSpPr txBox="1"/>
          <p:nvPr/>
        </p:nvSpPr>
        <p:spPr>
          <a:xfrm>
            <a:off x="594360" y="2286000"/>
            <a:ext cx="1828800" cy="54864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public/ files. Calls only our own /api/* routes.</a:t>
            </a:r>
            <a:endParaRPr lang="en-US" sz="1200" dirty="0"/>
          </a:p>
        </p:txBody>
      </p:sp>
      <p:sp>
        <p:nvSpPr>
          <p:cNvPr id="7" name="Box server"/>
          <p:cNvSpPr/>
          <p:nvPr/>
        </p:nvSpPr>
        <p:spPr>
          <a:xfrm>
            <a:off x="3474720" y="1371600"/>
            <a:ext cx="2194560" cy="1554480"/>
          </a:xfrm>
          <a:prstGeom prst="roundRect">
            <a:avLst>
              <a:gd name="adj" fmla="val 5882"/>
            </a:avLst>
          </a:prstGeom>
          <a:solidFill>
            <a:schemeClr val="accent1"/>
          </a:solidFill>
          <a:ln/>
          <a:effectLst>
            <a:outerShdw sx="100000" sy="100000" kx="0" ky="0" algn="bl" rotWithShape="0" blurRad="101600" dist="25400" dir="5400000">
              <a:srgbClr val="000000">
                <a:alpha val="12000"/>
              </a:srgbClr>
            </a:outerShdw>
          </a:effectLst>
        </p:spPr>
      </p:sp>
      <p:pic>
        <p:nvPicPr>
          <p:cNvPr id="8" name="Box server icon" descr="preencoded.png">    </p:cNvPr>
          <p:cNvPicPr>
            <a:picLocks noChangeAspect="1"/>
          </p:cNvPicPr>
          <p:nvPr/>
        </p:nvPicPr>
        <p:blipFill>
          <a:blip r:embed="rId2"/>
          <a:stretch>
            <a:fillRect/>
          </a:stretch>
        </p:blipFill>
        <p:spPr>
          <a:xfrm>
            <a:off x="3611880" y="1508760"/>
            <a:ext cx="365760" cy="365760"/>
          </a:xfrm>
          <a:prstGeom prst="rect">
            <a:avLst/>
          </a:prstGeom>
        </p:spPr>
      </p:pic>
      <p:sp>
        <p:nvSpPr>
          <p:cNvPr id="9" name="Box server head"/>
          <p:cNvSpPr txBox="1"/>
          <p:nvPr/>
        </p:nvSpPr>
        <p:spPr>
          <a:xfrm>
            <a:off x="3611880" y="1965960"/>
            <a:ext cx="1920240" cy="32004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App server</a:t>
            </a:r>
            <a:endParaRPr lang="en-US" sz="1600" dirty="0"/>
          </a:p>
        </p:txBody>
      </p:sp>
      <p:sp>
        <p:nvSpPr>
          <p:cNvPr id="10" name="Box server sub"/>
          <p:cNvSpPr txBox="1"/>
          <p:nvPr/>
        </p:nvSpPr>
        <p:spPr>
          <a:xfrm>
            <a:off x="3611880" y="2286000"/>
            <a:ext cx="1920240" cy="54864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server.js + adapters. Reads the key from .env.</a:t>
            </a:r>
            <a:endParaRPr lang="en-US" sz="1200" dirty="0"/>
          </a:p>
        </p:txBody>
      </p:sp>
      <p:sp>
        <p:nvSpPr>
          <p:cNvPr id="11" name="Box SAP"/>
          <p:cNvSpPr/>
          <p:nvPr/>
        </p:nvSpPr>
        <p:spPr>
          <a:xfrm>
            <a:off x="6583680" y="1371600"/>
            <a:ext cx="2103120" cy="1554480"/>
          </a:xfrm>
          <a:prstGeom prst="roundRect">
            <a:avLst>
              <a:gd name="adj" fmla="val 5882"/>
            </a:avLst>
          </a:prstGeom>
          <a:solidFill>
            <a:schemeClr val="tx2"/>
          </a:solidFill>
          <a:ln/>
          <a:effectLst>
            <a:outerShdw sx="100000" sy="100000" kx="0" ky="0" algn="bl" rotWithShape="0" blurRad="101600" dist="25400" dir="5400000">
              <a:srgbClr val="000000">
                <a:alpha val="12000"/>
              </a:srgbClr>
            </a:outerShdw>
          </a:effectLst>
        </p:spPr>
      </p:sp>
      <p:pic>
        <p:nvPicPr>
          <p:cNvPr id="12" name="Box SAP icon" descr="preencoded.png">    </p:cNvPr>
          <p:cNvPicPr>
            <a:picLocks noChangeAspect="1"/>
          </p:cNvPicPr>
          <p:nvPr/>
        </p:nvPicPr>
        <p:blipFill>
          <a:blip r:embed="rId3"/>
          <a:stretch>
            <a:fillRect/>
          </a:stretch>
        </p:blipFill>
        <p:spPr>
          <a:xfrm>
            <a:off x="6720840" y="1508760"/>
            <a:ext cx="365760" cy="365760"/>
          </a:xfrm>
          <a:prstGeom prst="rect">
            <a:avLst/>
          </a:prstGeom>
        </p:spPr>
      </p:pic>
      <p:sp>
        <p:nvSpPr>
          <p:cNvPr id="13" name="Box SAP head"/>
          <p:cNvSpPr txBox="1"/>
          <p:nvPr/>
        </p:nvSpPr>
        <p:spPr>
          <a:xfrm>
            <a:off x="6720840" y="1965960"/>
            <a:ext cx="1828800" cy="32004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SAP API Hub sandbox</a:t>
            </a:r>
            <a:endParaRPr lang="en-US" sz="1600" dirty="0"/>
          </a:p>
        </p:txBody>
      </p:sp>
      <p:sp>
        <p:nvSpPr>
          <p:cNvPr id="14" name="Box SAP sub"/>
          <p:cNvSpPr txBox="1"/>
          <p:nvPr/>
        </p:nvSpPr>
        <p:spPr>
          <a:xfrm>
            <a:off x="6720840" y="2286000"/>
            <a:ext cx="1828800" cy="54864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EHS: GET A_Incident. PO: GET A_PurchaseOrderItem.</a:t>
            </a:r>
            <a:endParaRPr lang="en-US" sz="1200" dirty="0"/>
          </a:p>
        </p:txBody>
      </p:sp>
      <p:sp>
        <p:nvSpPr>
          <p:cNvPr id="15" name="Box store"/>
          <p:cNvSpPr/>
          <p:nvPr/>
        </p:nvSpPr>
        <p:spPr>
          <a:xfrm>
            <a:off x="3474720" y="3291840"/>
            <a:ext cx="2194560" cy="1463040"/>
          </a:xfrm>
          <a:prstGeom prst="roundRect">
            <a:avLst>
              <a:gd name="adj" fmla="val 6250"/>
            </a:avLst>
          </a:prstGeom>
          <a:solidFill>
            <a:schemeClr val="accent4"/>
          </a:solidFill>
          <a:ln/>
          <a:effectLst>
            <a:outerShdw sx="100000" sy="100000" kx="0" ky="0" algn="bl" rotWithShape="0" blurRad="101600" dist="25400" dir="5400000">
              <a:srgbClr val="000000">
                <a:alpha val="12000"/>
              </a:srgbClr>
            </a:outerShdw>
          </a:effectLst>
        </p:spPr>
      </p:sp>
      <p:pic>
        <p:nvPicPr>
          <p:cNvPr id="16" name="Box store icon" descr="preencoded.png">    </p:cNvPr>
          <p:cNvPicPr>
            <a:picLocks noChangeAspect="1"/>
          </p:cNvPicPr>
          <p:nvPr/>
        </p:nvPicPr>
        <p:blipFill>
          <a:blip r:embed="rId4"/>
          <a:stretch>
            <a:fillRect/>
          </a:stretch>
        </p:blipFill>
        <p:spPr>
          <a:xfrm>
            <a:off x="3611880" y="3429000"/>
            <a:ext cx="365760" cy="365760"/>
          </a:xfrm>
          <a:prstGeom prst="rect">
            <a:avLst/>
          </a:prstGeom>
        </p:spPr>
      </p:pic>
      <p:sp>
        <p:nvSpPr>
          <p:cNvPr id="17" name="Box store head"/>
          <p:cNvSpPr txBox="1"/>
          <p:nvPr/>
        </p:nvSpPr>
        <p:spPr>
          <a:xfrm>
            <a:off x="3611880" y="3886200"/>
            <a:ext cx="1920240" cy="320040"/>
          </a:xfrm>
          <a:prstGeom prst="rect">
            <a:avLst/>
          </a:prstGeom>
          <a:noFill/>
          <a:ln/>
        </p:spPr>
        <p:txBody>
          <a:bodyPr wrap="square" lIns="0" tIns="0" rIns="0" bIns="0" rtlCol="0" anchor="ctr"/>
          <a:lstStyle/>
          <a:p>
            <a:pPr indent="0" marL="0">
              <a:buNone/>
            </a:pPr>
            <a:r>
              <a:rPr lang="en-US" sz="1600" b="1" dirty="0">
                <a:solidFill>
                  <a:schemeClr val="bg1"/>
                </a:solidFill>
                <a:latin typeface="Calibri" pitchFamily="34" charset="0"/>
                <a:ea typeface="Calibri" pitchFamily="34" charset="-122"/>
                <a:cs typeface="Calibri" pitchFamily="34" charset="-120"/>
              </a:rPr>
              <a:t>App store</a:t>
            </a:r>
            <a:endParaRPr lang="en-US" sz="1600" dirty="0"/>
          </a:p>
        </p:txBody>
      </p:sp>
      <p:sp>
        <p:nvSpPr>
          <p:cNvPr id="18" name="Box store sub"/>
          <p:cNvSpPr txBox="1"/>
          <p:nvPr/>
        </p:nvSpPr>
        <p:spPr>
          <a:xfrm>
            <a:off x="3611880" y="4206240"/>
            <a:ext cx="1920240" cy="457200"/>
          </a:xfrm>
          <a:prstGeom prst="rect">
            <a:avLst/>
          </a:prstGeom>
          <a:noFill/>
          <a:ln/>
        </p:spPr>
        <p:txBody>
          <a:bodyPr wrap="square" lIns="0" tIns="0" rIns="0" bIns="0" rtlCol="0" anchor="t"/>
          <a:lstStyle/>
          <a:p>
            <a:pPr indent="0" marL="0">
              <a:buNone/>
            </a:pPr>
            <a:r>
              <a:rPr lang="en-US" sz="1200" dirty="0">
                <a:solidFill>
                  <a:schemeClr val="bg2"/>
                </a:solidFill>
                <a:latin typeface="Calibri" pitchFamily="34" charset="0"/>
                <a:ea typeface="Calibri" pitchFamily="34" charset="-122"/>
                <a:cs typeface="Calibri" pitchFamily="34" charset="-120"/>
              </a:rPr>
              <a:t>data/db.json: severity, owner, notices, KPIs</a:t>
            </a:r>
            <a:endParaRPr lang="en-US" sz="1200" dirty="0"/>
          </a:p>
        </p:txBody>
      </p:sp>
      <p:sp>
        <p:nvSpPr>
          <p:cNvPr id="19" name="Arrow 1"/>
          <p:cNvSpPr/>
          <p:nvPr/>
        </p:nvSpPr>
        <p:spPr>
          <a:xfrm>
            <a:off x="2606040" y="2148840"/>
            <a:ext cx="822960" cy="0"/>
          </a:xfrm>
          <a:prstGeom prst="line">
            <a:avLst/>
          </a:prstGeom>
          <a:noFill/>
          <a:ln w="25400">
            <a:solidFill>
              <a:schemeClr val="tx1"/>
            </a:solidFill>
            <a:prstDash val="solid"/>
            <a:tailEnd type="triangle"/>
          </a:ln>
        </p:spPr>
      </p:sp>
      <p:sp>
        <p:nvSpPr>
          <p:cNvPr id="20" name="Arrow 2"/>
          <p:cNvSpPr/>
          <p:nvPr/>
        </p:nvSpPr>
        <p:spPr>
          <a:xfrm>
            <a:off x="5715000" y="2148840"/>
            <a:ext cx="822960" cy="0"/>
          </a:xfrm>
          <a:prstGeom prst="line">
            <a:avLst/>
          </a:prstGeom>
          <a:noFill/>
          <a:ln w="25400">
            <a:solidFill>
              <a:schemeClr val="tx1"/>
            </a:solidFill>
            <a:prstDash val="solid"/>
            <a:tailEnd type="triangle"/>
          </a:ln>
        </p:spPr>
      </p:sp>
      <p:sp>
        <p:nvSpPr>
          <p:cNvPr id="21" name="Arrow down"/>
          <p:cNvSpPr/>
          <p:nvPr/>
        </p:nvSpPr>
        <p:spPr>
          <a:xfrm>
            <a:off x="4572000" y="2971800"/>
            <a:ext cx="0" cy="274320"/>
          </a:xfrm>
          <a:prstGeom prst="line">
            <a:avLst/>
          </a:prstGeom>
          <a:noFill/>
          <a:ln w="25400">
            <a:solidFill>
              <a:schemeClr val="tx1"/>
            </a:solidFill>
            <a:prstDash val="solid"/>
            <a:tailEnd type="triangle"/>
          </a:ln>
        </p:spPr>
      </p:sp>
      <p:sp>
        <p:nvSpPr>
          <p:cNvPr id="22" name="Arrow label"/>
          <p:cNvSpPr txBox="1"/>
          <p:nvPr/>
        </p:nvSpPr>
        <p:spPr>
          <a:xfrm>
            <a:off x="5669280" y="2240280"/>
            <a:ext cx="914400" cy="411480"/>
          </a:xfrm>
          <a:prstGeom prst="rect">
            <a:avLst/>
          </a:prstGeom>
          <a:noFill/>
          <a:ln/>
        </p:spPr>
        <p:txBody>
          <a:bodyPr wrap="square" lIns="0" tIns="0" rIns="0" bIns="0" rtlCol="0" anchor="t"/>
          <a:lstStyle/>
          <a:p>
            <a:pPr algn="ctr" indent="0" marL="0">
              <a:buNone/>
            </a:pPr>
            <a:r>
              <a:rPr lang="en-US" sz="1000" dirty="0">
                <a:solidFill>
                  <a:schemeClr val="accent4"/>
                </a:solidFill>
              </a:rPr>
              <a:t>APIKey header, server side only</a:t>
            </a:r>
            <a:endParaRPr lang="en-US" sz="1000" dirty="0"/>
          </a:p>
        </p:txBody>
      </p:sp>
      <p:sp>
        <p:nvSpPr>
          <p:cNvPr id="23" name="Key note"/>
          <p:cNvSpPr txBox="1"/>
          <p:nvPr/>
        </p:nvSpPr>
        <p:spPr>
          <a:xfrm>
            <a:off x="6035040" y="3566160"/>
            <a:ext cx="2651760" cy="914400"/>
          </a:xfrm>
          <a:prstGeom prst="rect">
            <a:avLst/>
          </a:prstGeom>
          <a:noFill/>
          <a:ln/>
        </p:spPr>
        <p:txBody>
          <a:bodyPr wrap="square" lIns="0" tIns="0" rIns="0" bIns="0" rtlCol="0" anchor="t"/>
          <a:lstStyle/>
          <a:p>
            <a:pPr indent="0" marL="0">
              <a:buNone/>
            </a:pPr>
            <a:r>
              <a:rPr lang="en-US" sz="1400" b="1" dirty="0">
                <a:solidFill>
                  <a:schemeClr val="tx2"/>
                </a:solidFill>
                <a:latin typeface="Calibri" pitchFamily="34" charset="0"/>
                <a:ea typeface="Calibri" pitchFamily="34" charset="-122"/>
                <a:cs typeface="Calibri" pitchFamily="34" charset="-120"/>
              </a:rPr>
              <a:t>The browser never sees the key. Only the server sends it to SAP.</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Setup in four steps</a:t>
            </a:r>
            <a:endParaRPr lang="en-US" sz="3600" dirty="0"/>
          </a:p>
        </p:txBody>
      </p:sp>
      <p:sp>
        <p:nvSpPr>
          <p:cNvPr id="3" name="Step card 1"/>
          <p:cNvSpPr/>
          <p:nvPr/>
        </p:nvSpPr>
        <p:spPr>
          <a:xfrm>
            <a:off x="457200" y="1280160"/>
            <a:ext cx="1920240" cy="2514600"/>
          </a:xfrm>
          <a:prstGeom prst="roundRect">
            <a:avLst>
              <a:gd name="adj" fmla="val 4762"/>
            </a:avLst>
          </a:prstGeom>
          <a:solidFill>
            <a:schemeClr val="bg2"/>
          </a:solidFill>
          <a:ln/>
          <a:effectLst>
            <a:outerShdw sx="100000" sy="100000" kx="0" ky="0" algn="bl" rotWithShape="0" blurRad="101600" dist="25400" dir="5400000">
              <a:srgbClr val="000000">
                <a:alpha val="12000"/>
              </a:srgbClr>
            </a:outerShdw>
          </a:effectLst>
        </p:spPr>
      </p:sp>
      <p:sp>
        <p:nvSpPr>
          <p:cNvPr id="4" name="Step circle 1"/>
          <p:cNvSpPr/>
          <p:nvPr/>
        </p:nvSpPr>
        <p:spPr>
          <a:xfrm>
            <a:off x="594360" y="1417320"/>
            <a:ext cx="594360" cy="594360"/>
          </a:xfrm>
          <a:prstGeom prst="ellipse">
            <a:avLst/>
          </a:prstGeom>
          <a:solidFill>
            <a:schemeClr val="accent1"/>
          </a:solidFill>
          <a:ln/>
        </p:spPr>
      </p:sp>
      <p:pic>
        <p:nvPicPr>
          <p:cNvPr id="5" name="Step icon 1" descr="preencoded.png">    </p:cNvPr>
          <p:cNvPicPr>
            <a:picLocks noChangeAspect="1"/>
          </p:cNvPicPr>
          <p:nvPr/>
        </p:nvPicPr>
        <p:blipFill>
          <a:blip r:embed="rId1"/>
          <a:stretch>
            <a:fillRect/>
          </a:stretch>
        </p:blipFill>
        <p:spPr>
          <a:xfrm>
            <a:off x="731520" y="1554480"/>
            <a:ext cx="320040" cy="320040"/>
          </a:xfrm>
          <a:prstGeom prst="rect">
            <a:avLst/>
          </a:prstGeom>
        </p:spPr>
      </p:pic>
      <p:sp>
        <p:nvSpPr>
          <p:cNvPr id="6" name="Step number 1"/>
          <p:cNvSpPr txBox="1"/>
          <p:nvPr/>
        </p:nvSpPr>
        <p:spPr>
          <a:xfrm>
            <a:off x="1874520" y="1417320"/>
            <a:ext cx="365760" cy="594360"/>
          </a:xfrm>
          <a:prstGeom prst="rect">
            <a:avLst/>
          </a:prstGeom>
          <a:noFill/>
          <a:ln/>
        </p:spPr>
        <p:txBody>
          <a:bodyPr wrap="square" lIns="0" tIns="0" rIns="0" bIns="0" rtlCol="0" anchor="ctr"/>
          <a:lstStyle/>
          <a:p>
            <a:pPr algn="r" indent="0" marL="0">
              <a:buNone/>
            </a:pPr>
            <a:r>
              <a:rPr lang="en-US" sz="3200" b="1" dirty="0">
                <a:solidFill>
                  <a:schemeClr val="accent6"/>
                </a:solidFill>
                <a:latin typeface="Cambria" pitchFamily="34" charset="0"/>
                <a:ea typeface="Cambria" pitchFamily="34" charset="-122"/>
                <a:cs typeface="Cambria" pitchFamily="34" charset="-120"/>
              </a:rPr>
              <a:t>1</a:t>
            </a:r>
            <a:endParaRPr lang="en-US" sz="3200" dirty="0"/>
          </a:p>
        </p:txBody>
      </p:sp>
      <p:sp>
        <p:nvSpPr>
          <p:cNvPr id="7" name="Step head 1"/>
          <p:cNvSpPr txBox="1"/>
          <p:nvPr/>
        </p:nvSpPr>
        <p:spPr>
          <a:xfrm>
            <a:off x="594360" y="2148840"/>
            <a:ext cx="164592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Get a key</a:t>
            </a:r>
            <a:endParaRPr lang="en-US" sz="1600" dirty="0"/>
          </a:p>
        </p:txBody>
      </p:sp>
      <p:sp>
        <p:nvSpPr>
          <p:cNvPr id="8" name="Step text 1"/>
          <p:cNvSpPr txBox="1"/>
          <p:nvPr/>
        </p:nvSpPr>
        <p:spPr>
          <a:xfrm>
            <a:off x="594360" y="2560320"/>
            <a:ext cx="164592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Hub, open the API, Show API Key. One key per person.</a:t>
            </a:r>
            <a:endParaRPr lang="en-US" sz="1400" dirty="0"/>
          </a:p>
        </p:txBody>
      </p:sp>
      <p:sp>
        <p:nvSpPr>
          <p:cNvPr id="9" name="Step card 2"/>
          <p:cNvSpPr/>
          <p:nvPr/>
        </p:nvSpPr>
        <p:spPr>
          <a:xfrm>
            <a:off x="2560320" y="1280160"/>
            <a:ext cx="1920240" cy="2514600"/>
          </a:xfrm>
          <a:prstGeom prst="roundRect">
            <a:avLst>
              <a:gd name="adj" fmla="val 4762"/>
            </a:avLst>
          </a:prstGeom>
          <a:solidFill>
            <a:schemeClr val="bg2"/>
          </a:solidFill>
          <a:ln/>
          <a:effectLst>
            <a:outerShdw sx="100000" sy="100000" kx="0" ky="0" algn="bl" rotWithShape="0" blurRad="101600" dist="25400" dir="5400000">
              <a:srgbClr val="000000">
                <a:alpha val="12000"/>
              </a:srgbClr>
            </a:outerShdw>
          </a:effectLst>
        </p:spPr>
      </p:sp>
      <p:sp>
        <p:nvSpPr>
          <p:cNvPr id="10" name="Step circle 2"/>
          <p:cNvSpPr/>
          <p:nvPr/>
        </p:nvSpPr>
        <p:spPr>
          <a:xfrm>
            <a:off x="2697480" y="1417320"/>
            <a:ext cx="594360" cy="594360"/>
          </a:xfrm>
          <a:prstGeom prst="ellipse">
            <a:avLst/>
          </a:prstGeom>
          <a:solidFill>
            <a:schemeClr val="accent1"/>
          </a:solidFill>
          <a:ln/>
        </p:spPr>
      </p:sp>
      <p:pic>
        <p:nvPicPr>
          <p:cNvPr id="11" name="Step icon 2" descr="preencoded.png">    </p:cNvPr>
          <p:cNvPicPr>
            <a:picLocks noChangeAspect="1"/>
          </p:cNvPicPr>
          <p:nvPr/>
        </p:nvPicPr>
        <p:blipFill>
          <a:blip r:embed="rId2"/>
          <a:stretch>
            <a:fillRect/>
          </a:stretch>
        </p:blipFill>
        <p:spPr>
          <a:xfrm>
            <a:off x="2834640" y="1554480"/>
            <a:ext cx="320040" cy="320040"/>
          </a:xfrm>
          <a:prstGeom prst="rect">
            <a:avLst/>
          </a:prstGeom>
        </p:spPr>
      </p:pic>
      <p:sp>
        <p:nvSpPr>
          <p:cNvPr id="12" name="Step number 2"/>
          <p:cNvSpPr txBox="1"/>
          <p:nvPr/>
        </p:nvSpPr>
        <p:spPr>
          <a:xfrm>
            <a:off x="3977640" y="1417320"/>
            <a:ext cx="365760" cy="594360"/>
          </a:xfrm>
          <a:prstGeom prst="rect">
            <a:avLst/>
          </a:prstGeom>
          <a:noFill/>
          <a:ln/>
        </p:spPr>
        <p:txBody>
          <a:bodyPr wrap="square" lIns="0" tIns="0" rIns="0" bIns="0" rtlCol="0" anchor="ctr"/>
          <a:lstStyle/>
          <a:p>
            <a:pPr algn="r" indent="0" marL="0">
              <a:buNone/>
            </a:pPr>
            <a:r>
              <a:rPr lang="en-US" sz="3200" b="1" dirty="0">
                <a:solidFill>
                  <a:schemeClr val="accent6"/>
                </a:solidFill>
                <a:latin typeface="Cambria" pitchFamily="34" charset="0"/>
                <a:ea typeface="Cambria" pitchFamily="34" charset="-122"/>
                <a:cs typeface="Cambria" pitchFamily="34" charset="-120"/>
              </a:rPr>
              <a:t>2</a:t>
            </a:r>
            <a:endParaRPr lang="en-US" sz="3200" dirty="0"/>
          </a:p>
        </p:txBody>
      </p:sp>
      <p:sp>
        <p:nvSpPr>
          <p:cNvPr id="13" name="Step head 2"/>
          <p:cNvSpPr txBox="1"/>
          <p:nvPr/>
        </p:nvSpPr>
        <p:spPr>
          <a:xfrm>
            <a:off x="2697480" y="2148840"/>
            <a:ext cx="164592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Prompt 1</a:t>
            </a:r>
            <a:endParaRPr lang="en-US" sz="1600" dirty="0"/>
          </a:p>
        </p:txBody>
      </p:sp>
      <p:sp>
        <p:nvSpPr>
          <p:cNvPr id="14" name="Step text 2"/>
          <p:cNvSpPr txBox="1"/>
          <p:nvPr/>
        </p:nvSpPr>
        <p:spPr>
          <a:xfrm>
            <a:off x="2697480" y="2560320"/>
            <a:ext cx="164592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Paste the first prompt file. The app is created and runs in mock mode.</a:t>
            </a:r>
            <a:endParaRPr lang="en-US" sz="1400" dirty="0"/>
          </a:p>
        </p:txBody>
      </p:sp>
      <p:sp>
        <p:nvSpPr>
          <p:cNvPr id="15" name="Step card 3"/>
          <p:cNvSpPr/>
          <p:nvPr/>
        </p:nvSpPr>
        <p:spPr>
          <a:xfrm>
            <a:off x="4663440" y="1280160"/>
            <a:ext cx="1920240" cy="2514600"/>
          </a:xfrm>
          <a:prstGeom prst="roundRect">
            <a:avLst>
              <a:gd name="adj" fmla="val 4762"/>
            </a:avLst>
          </a:prstGeom>
          <a:solidFill>
            <a:schemeClr val="bg2"/>
          </a:solidFill>
          <a:ln/>
          <a:effectLst>
            <a:outerShdw sx="100000" sy="100000" kx="0" ky="0" algn="bl" rotWithShape="0" blurRad="101600" dist="25400" dir="5400000">
              <a:srgbClr val="000000">
                <a:alpha val="12000"/>
              </a:srgbClr>
            </a:outerShdw>
          </a:effectLst>
        </p:spPr>
      </p:sp>
      <p:sp>
        <p:nvSpPr>
          <p:cNvPr id="16" name="Step circle 3"/>
          <p:cNvSpPr/>
          <p:nvPr/>
        </p:nvSpPr>
        <p:spPr>
          <a:xfrm>
            <a:off x="4800600" y="1417320"/>
            <a:ext cx="594360" cy="594360"/>
          </a:xfrm>
          <a:prstGeom prst="ellipse">
            <a:avLst/>
          </a:prstGeom>
          <a:solidFill>
            <a:schemeClr val="accent1"/>
          </a:solidFill>
          <a:ln/>
        </p:spPr>
      </p:sp>
      <p:pic>
        <p:nvPicPr>
          <p:cNvPr id="17" name="Step icon 3" descr="preencoded.png">    </p:cNvPr>
          <p:cNvPicPr>
            <a:picLocks noChangeAspect="1"/>
          </p:cNvPicPr>
          <p:nvPr/>
        </p:nvPicPr>
        <p:blipFill>
          <a:blip r:embed="rId3"/>
          <a:stretch>
            <a:fillRect/>
          </a:stretch>
        </p:blipFill>
        <p:spPr>
          <a:xfrm>
            <a:off x="4937760" y="1554480"/>
            <a:ext cx="320040" cy="320040"/>
          </a:xfrm>
          <a:prstGeom prst="rect">
            <a:avLst/>
          </a:prstGeom>
        </p:spPr>
      </p:pic>
      <p:sp>
        <p:nvSpPr>
          <p:cNvPr id="18" name="Step number 3"/>
          <p:cNvSpPr txBox="1"/>
          <p:nvPr/>
        </p:nvSpPr>
        <p:spPr>
          <a:xfrm>
            <a:off x="6080760" y="1417320"/>
            <a:ext cx="365760" cy="594360"/>
          </a:xfrm>
          <a:prstGeom prst="rect">
            <a:avLst/>
          </a:prstGeom>
          <a:noFill/>
          <a:ln/>
        </p:spPr>
        <p:txBody>
          <a:bodyPr wrap="square" lIns="0" tIns="0" rIns="0" bIns="0" rtlCol="0" anchor="ctr"/>
          <a:lstStyle/>
          <a:p>
            <a:pPr algn="r" indent="0" marL="0">
              <a:buNone/>
            </a:pPr>
            <a:r>
              <a:rPr lang="en-US" sz="3200" b="1" dirty="0">
                <a:solidFill>
                  <a:schemeClr val="accent6"/>
                </a:solidFill>
                <a:latin typeface="Cambria" pitchFamily="34" charset="0"/>
                <a:ea typeface="Cambria" pitchFamily="34" charset="-122"/>
                <a:cs typeface="Cambria" pitchFamily="34" charset="-120"/>
              </a:rPr>
              <a:t>3</a:t>
            </a:r>
            <a:endParaRPr lang="en-US" sz="3200" dirty="0"/>
          </a:p>
        </p:txBody>
      </p:sp>
      <p:sp>
        <p:nvSpPr>
          <p:cNvPr id="19" name="Step head 3"/>
          <p:cNvSpPr txBox="1"/>
          <p:nvPr/>
        </p:nvSpPr>
        <p:spPr>
          <a:xfrm>
            <a:off x="4800600" y="2148840"/>
            <a:ext cx="164592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Fill .env</a:t>
            </a:r>
            <a:endParaRPr lang="en-US" sz="1600" dirty="0"/>
          </a:p>
        </p:txBody>
      </p:sp>
      <p:sp>
        <p:nvSpPr>
          <p:cNvPr id="20" name="Step text 3"/>
          <p:cNvSpPr txBox="1"/>
          <p:nvPr/>
        </p:nvSpPr>
        <p:spPr>
          <a:xfrm>
            <a:off x="4800600" y="2560320"/>
            <a:ext cx="164592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Real key, EHS_MODE and PO_MODE set to sandbox. Never in chat.</a:t>
            </a:r>
            <a:endParaRPr lang="en-US" sz="1400" dirty="0"/>
          </a:p>
        </p:txBody>
      </p:sp>
      <p:sp>
        <p:nvSpPr>
          <p:cNvPr id="21" name="Step card 4"/>
          <p:cNvSpPr/>
          <p:nvPr/>
        </p:nvSpPr>
        <p:spPr>
          <a:xfrm>
            <a:off x="6766560" y="1280160"/>
            <a:ext cx="1920240" cy="2514600"/>
          </a:xfrm>
          <a:prstGeom prst="roundRect">
            <a:avLst>
              <a:gd name="adj" fmla="val 4762"/>
            </a:avLst>
          </a:prstGeom>
          <a:solidFill>
            <a:schemeClr val="bg2"/>
          </a:solidFill>
          <a:ln/>
          <a:effectLst>
            <a:outerShdw sx="100000" sy="100000" kx="0" ky="0" algn="bl" rotWithShape="0" blurRad="101600" dist="25400" dir="5400000">
              <a:srgbClr val="000000">
                <a:alpha val="12000"/>
              </a:srgbClr>
            </a:outerShdw>
          </a:effectLst>
        </p:spPr>
      </p:sp>
      <p:sp>
        <p:nvSpPr>
          <p:cNvPr id="22" name="Step circle 4"/>
          <p:cNvSpPr/>
          <p:nvPr/>
        </p:nvSpPr>
        <p:spPr>
          <a:xfrm>
            <a:off x="6903720" y="1417320"/>
            <a:ext cx="594360" cy="594360"/>
          </a:xfrm>
          <a:prstGeom prst="ellipse">
            <a:avLst/>
          </a:prstGeom>
          <a:solidFill>
            <a:schemeClr val="accent1"/>
          </a:solidFill>
          <a:ln/>
        </p:spPr>
      </p:sp>
      <p:pic>
        <p:nvPicPr>
          <p:cNvPr id="23" name="Step icon 4" descr="preencoded.png">    </p:cNvPr>
          <p:cNvPicPr>
            <a:picLocks noChangeAspect="1"/>
          </p:cNvPicPr>
          <p:nvPr/>
        </p:nvPicPr>
        <p:blipFill>
          <a:blip r:embed="rId4"/>
          <a:stretch>
            <a:fillRect/>
          </a:stretch>
        </p:blipFill>
        <p:spPr>
          <a:xfrm>
            <a:off x="7040880" y="1554480"/>
            <a:ext cx="320040" cy="320040"/>
          </a:xfrm>
          <a:prstGeom prst="rect">
            <a:avLst/>
          </a:prstGeom>
        </p:spPr>
      </p:pic>
      <p:sp>
        <p:nvSpPr>
          <p:cNvPr id="24" name="Step number 4"/>
          <p:cNvSpPr txBox="1"/>
          <p:nvPr/>
        </p:nvSpPr>
        <p:spPr>
          <a:xfrm>
            <a:off x="8183880" y="1417320"/>
            <a:ext cx="365760" cy="594360"/>
          </a:xfrm>
          <a:prstGeom prst="rect">
            <a:avLst/>
          </a:prstGeom>
          <a:noFill/>
          <a:ln/>
        </p:spPr>
        <p:txBody>
          <a:bodyPr wrap="square" lIns="0" tIns="0" rIns="0" bIns="0" rtlCol="0" anchor="ctr"/>
          <a:lstStyle/>
          <a:p>
            <a:pPr algn="r" indent="0" marL="0">
              <a:buNone/>
            </a:pPr>
            <a:r>
              <a:rPr lang="en-US" sz="3200" b="1" dirty="0">
                <a:solidFill>
                  <a:schemeClr val="accent6"/>
                </a:solidFill>
                <a:latin typeface="Cambria" pitchFamily="34" charset="0"/>
                <a:ea typeface="Cambria" pitchFamily="34" charset="-122"/>
                <a:cs typeface="Cambria" pitchFamily="34" charset="-120"/>
              </a:rPr>
              <a:t>4</a:t>
            </a:r>
            <a:endParaRPr lang="en-US" sz="3200" dirty="0"/>
          </a:p>
        </p:txBody>
      </p:sp>
      <p:sp>
        <p:nvSpPr>
          <p:cNvPr id="25" name="Step head 4"/>
          <p:cNvSpPr txBox="1"/>
          <p:nvPr/>
        </p:nvSpPr>
        <p:spPr>
          <a:xfrm>
            <a:off x="6903720" y="2148840"/>
            <a:ext cx="1645920" cy="365760"/>
          </a:xfrm>
          <a:prstGeom prst="rect">
            <a:avLst/>
          </a:prstGeom>
          <a:noFill/>
          <a:ln/>
        </p:spPr>
        <p:txBody>
          <a:bodyPr wrap="square" lIns="0" tIns="0" rIns="0" bIns="0" rtlCol="0" anchor="ctr"/>
          <a:lstStyle/>
          <a:p>
            <a:pPr indent="0" marL="0">
              <a:buNone/>
            </a:pPr>
            <a:r>
              <a:rPr lang="en-US" sz="1600" b="1" dirty="0">
                <a:solidFill>
                  <a:schemeClr val="tx2"/>
                </a:solidFill>
                <a:latin typeface="Calibri" pitchFamily="34" charset="0"/>
                <a:ea typeface="Calibri" pitchFamily="34" charset="-122"/>
                <a:cs typeface="Calibri" pitchFamily="34" charset="-120"/>
              </a:rPr>
              <a:t>Prompts A and B</a:t>
            </a:r>
            <a:endParaRPr lang="en-US" sz="1600" dirty="0"/>
          </a:p>
        </p:txBody>
      </p:sp>
      <p:sp>
        <p:nvSpPr>
          <p:cNvPr id="26" name="Step text 4"/>
          <p:cNvSpPr txBox="1"/>
          <p:nvPr/>
        </p:nvSpPr>
        <p:spPr>
          <a:xfrm>
            <a:off x="6903720" y="2560320"/>
            <a:ext cx="1645920" cy="1188720"/>
          </a:xfrm>
          <a:prstGeom prst="rect">
            <a:avLst/>
          </a:prstGeom>
          <a:noFill/>
          <a:ln/>
        </p:spPr>
        <p:txBody>
          <a:bodyPr wrap="square" lIns="0" tIns="0" rIns="0" bIns="0" rtlCol="0" anchor="t"/>
          <a:lstStyle/>
          <a:p>
            <a:pPr indent="0" marL="0">
              <a:buNone/>
            </a:pPr>
            <a:r>
              <a:rPr lang="en-US" sz="1400" dirty="0">
                <a:solidFill>
                  <a:schemeClr val="tx1"/>
                </a:solidFill>
                <a:latin typeface="Calibri" pitchFamily="34" charset="0"/>
                <a:ea typeface="Calibri" pitchFamily="34" charset="-122"/>
                <a:cs typeface="Calibri" pitchFamily="34" charset="-120"/>
              </a:rPr>
              <a:t>Switch EHS, then PO, to sandbox and verify each call.</a:t>
            </a:r>
            <a:endParaRPr lang="en-US" sz="1400" dirty="0"/>
          </a:p>
        </p:txBody>
      </p:sp>
      <p:sp>
        <p:nvSpPr>
          <p:cNvPr id="27" name="Warning box"/>
          <p:cNvSpPr/>
          <p:nvPr/>
        </p:nvSpPr>
        <p:spPr>
          <a:xfrm>
            <a:off x="457200" y="4023360"/>
            <a:ext cx="8229600" cy="594360"/>
          </a:xfrm>
          <a:prstGeom prst="roundRect">
            <a:avLst>
              <a:gd name="adj" fmla="val 15385"/>
            </a:avLst>
          </a:prstGeom>
          <a:solidFill>
            <a:schemeClr val="accent2">
              <a:alpha val="30000"/>
            </a:schemeClr>
          </a:solidFill>
          <a:ln/>
        </p:spPr>
      </p:sp>
      <p:pic>
        <p:nvPicPr>
          <p:cNvPr id="28" name="Warning icon" descr="preencoded.png">    </p:cNvPr>
          <p:cNvPicPr>
            <a:picLocks noChangeAspect="1"/>
          </p:cNvPicPr>
          <p:nvPr/>
        </p:nvPicPr>
        <p:blipFill>
          <a:blip r:embed="rId5"/>
          <a:stretch>
            <a:fillRect/>
          </a:stretch>
        </p:blipFill>
        <p:spPr>
          <a:xfrm>
            <a:off x="640080" y="4160520"/>
            <a:ext cx="320040" cy="320040"/>
          </a:xfrm>
          <a:prstGeom prst="rect">
            <a:avLst/>
          </a:prstGeom>
        </p:spPr>
      </p:pic>
      <p:sp>
        <p:nvSpPr>
          <p:cNvPr id="29" name="Warning text"/>
          <p:cNvSpPr txBox="1"/>
          <p:nvPr/>
        </p:nvSpPr>
        <p:spPr>
          <a:xfrm>
            <a:off x="1097280" y="4023360"/>
            <a:ext cx="7406640" cy="594360"/>
          </a:xfrm>
          <a:prstGeom prst="rect">
            <a:avLst/>
          </a:prstGeom>
          <a:noFill/>
          <a:ln/>
        </p:spPr>
        <p:txBody>
          <a:bodyPr wrap="square" lIns="0" tIns="0" rIns="0" bIns="0" rtlCol="0" anchor="ctr"/>
          <a:lstStyle/>
          <a:p>
            <a:pPr indent="0" marL="0">
              <a:buNone/>
            </a:pPr>
            <a:r>
              <a:rPr lang="en-US" sz="1600" b="1" dirty="0">
                <a:solidFill>
                  <a:schemeClr val="tx1"/>
                </a:solidFill>
                <a:latin typeface="Calibri" pitchFamily="34" charset="0"/>
                <a:ea typeface="Calibri" pitchFamily="34" charset="-122"/>
                <a:cs typeface="Calibri" pitchFamily="34" charset="-120"/>
              </a:rPr>
              <a:t>Without a real key in .env the app silently stays in mock mode.</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The two opencode prompts</a:t>
            </a:r>
            <a:endParaRPr lang="en-US" sz="3600" dirty="0"/>
          </a:p>
        </p:txBody>
      </p:sp>
      <p:sp>
        <p:nvSpPr>
          <p:cNvPr id="3" name="Prompt card 1"/>
          <p:cNvSpPr/>
          <p:nvPr/>
        </p:nvSpPr>
        <p:spPr>
          <a:xfrm>
            <a:off x="457200" y="1188720"/>
            <a:ext cx="4023360" cy="2468880"/>
          </a:xfrm>
          <a:prstGeom prst="roundRect">
            <a:avLst>
              <a:gd name="adj" fmla="val 3704"/>
            </a:avLst>
          </a:prstGeom>
          <a:solidFill>
            <a:schemeClr val="bg2"/>
          </a:solidFill>
          <a:ln/>
          <a:effectLst>
            <a:outerShdw sx="100000" sy="100000" kx="0" ky="0" algn="bl" rotWithShape="0" blurRad="101600" dist="25400" dir="5400000">
              <a:srgbClr val="000000">
                <a:alpha val="12000"/>
              </a:srgbClr>
            </a:outerShdw>
          </a:effectLst>
        </p:spPr>
      </p:sp>
      <p:sp>
        <p:nvSpPr>
          <p:cNvPr id="4" name="Prompt label 1"/>
          <p:cNvSpPr txBox="1"/>
          <p:nvPr/>
        </p:nvSpPr>
        <p:spPr>
          <a:xfrm>
            <a:off x="640080" y="1280160"/>
            <a:ext cx="3657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PROMPT A · EHS</a:t>
            </a:r>
            <a:endParaRPr lang="en-US" sz="1200" dirty="0"/>
          </a:p>
        </p:txBody>
      </p:sp>
      <p:sp>
        <p:nvSpPr>
          <p:cNvPr id="5" name="Prompt text 1"/>
          <p:cNvSpPr txBox="1"/>
          <p:nvPr/>
        </p:nvSpPr>
        <p:spPr>
          <a:xfrm>
            <a:off x="640080" y="1645920"/>
            <a:ext cx="3657600" cy="192024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I have already created .env with EHS_MODE=sandbox and SAP_API_KEY. Do not create, edit, print or log .env or the key. Restart the server and verify GET /api/sap/incidents returns mode sandbox with real incidents and no error. Report only the mode, the count and the first title.</a:t>
            </a:r>
            <a:endParaRPr lang="en-US" sz="1200" dirty="0"/>
          </a:p>
        </p:txBody>
      </p:sp>
      <p:sp>
        <p:nvSpPr>
          <p:cNvPr id="6" name="Prompt card 2"/>
          <p:cNvSpPr/>
          <p:nvPr/>
        </p:nvSpPr>
        <p:spPr>
          <a:xfrm>
            <a:off x="4663440" y="1188720"/>
            <a:ext cx="4023360" cy="2468880"/>
          </a:xfrm>
          <a:prstGeom prst="roundRect">
            <a:avLst>
              <a:gd name="adj" fmla="val 3704"/>
            </a:avLst>
          </a:prstGeom>
          <a:solidFill>
            <a:schemeClr val="bg2"/>
          </a:solidFill>
          <a:ln/>
          <a:effectLst>
            <a:outerShdw sx="100000" sy="100000" kx="0" ky="0" algn="bl" rotWithShape="0" blurRad="101600" dist="25400" dir="5400000">
              <a:srgbClr val="000000">
                <a:alpha val="12000"/>
              </a:srgbClr>
            </a:outerShdw>
          </a:effectLst>
        </p:spPr>
      </p:sp>
      <p:sp>
        <p:nvSpPr>
          <p:cNvPr id="7" name="Prompt label 2"/>
          <p:cNvSpPr txBox="1"/>
          <p:nvPr/>
        </p:nvSpPr>
        <p:spPr>
          <a:xfrm>
            <a:off x="4846320" y="1280160"/>
            <a:ext cx="3657600" cy="320040"/>
          </a:xfrm>
          <a:prstGeom prst="rect">
            <a:avLst/>
          </a:prstGeom>
          <a:noFill/>
          <a:ln/>
        </p:spPr>
        <p:txBody>
          <a:bodyPr wrap="square" lIns="0" tIns="0" rIns="0" bIns="0" rtlCol="0" anchor="ctr"/>
          <a:lstStyle/>
          <a:p>
            <a:pPr indent="0" marL="0">
              <a:buNone/>
            </a:pPr>
            <a:r>
              <a:rPr lang="en-US" sz="1200" b="1" dirty="0">
                <a:solidFill>
                  <a:schemeClr val="accent1"/>
                </a:solidFill>
                <a:latin typeface="Calibri" pitchFamily="34" charset="0"/>
                <a:ea typeface="Calibri" pitchFamily="34" charset="-122"/>
                <a:cs typeface="Calibri" pitchFamily="34" charset="-120"/>
              </a:rPr>
              <a:t>PROMPT B · PO</a:t>
            </a:r>
            <a:endParaRPr lang="en-US" sz="1200" dirty="0"/>
          </a:p>
        </p:txBody>
      </p:sp>
      <p:sp>
        <p:nvSpPr>
          <p:cNvPr id="8" name="Prompt text 2"/>
          <p:cNvSpPr txBox="1"/>
          <p:nvPr/>
        </p:nvSpPr>
        <p:spPr>
          <a:xfrm>
            <a:off x="4846320" y="1645920"/>
            <a:ext cx="3657600" cy="1920240"/>
          </a:xfrm>
          <a:prstGeom prst="rect">
            <a:avLst/>
          </a:prstGeom>
          <a:noFill/>
          <a:ln/>
        </p:spPr>
        <p:txBody>
          <a:bodyPr wrap="square" lIns="0" tIns="0" rIns="0" bIns="0" rtlCol="0" anchor="t"/>
          <a:lstStyle/>
          <a:p>
            <a:pPr indent="0" marL="0">
              <a:buNone/>
            </a:pPr>
            <a:r>
              <a:rPr lang="en-US" sz="1200" dirty="0">
                <a:solidFill>
                  <a:schemeClr val="tx1"/>
                </a:solidFill>
                <a:latin typeface="Courier New" pitchFamily="34" charset="0"/>
                <a:ea typeface="Courier New" pitchFamily="34" charset="-122"/>
                <a:cs typeface="Courier New" pitchFamily="34" charset="-120"/>
              </a:rPr>
              <a:t>Set PO_MODE=sandbox (the key is already in .env, do not print it). Call GET /api/po/orders. If entity or field names differ from adapters/po.js, adapt the mapping and show the first result.</a:t>
            </a:r>
            <a:endParaRPr lang="en-US" sz="1200" dirty="0"/>
          </a:p>
        </p:txBody>
      </p:sp>
      <p:sp>
        <p:nvSpPr>
          <p:cNvPr id="9" name="Env card"/>
          <p:cNvSpPr/>
          <p:nvPr/>
        </p:nvSpPr>
        <p:spPr>
          <a:xfrm>
            <a:off x="457200" y="3840480"/>
            <a:ext cx="8229600" cy="868680"/>
          </a:xfrm>
          <a:prstGeom prst="roundRect">
            <a:avLst>
              <a:gd name="adj" fmla="val 10526"/>
            </a:avLst>
          </a:prstGeom>
          <a:solidFill>
            <a:schemeClr val="tx2"/>
          </a:solidFill>
          <a:ln/>
        </p:spPr>
      </p:sp>
      <p:sp>
        <p:nvSpPr>
          <p:cNvPr id="10" name="Env label"/>
          <p:cNvSpPr txBox="1"/>
          <p:nvPr/>
        </p:nvSpPr>
        <p:spPr>
          <a:xfrm>
            <a:off x="640080" y="3904488"/>
            <a:ext cx="7863840" cy="274320"/>
          </a:xfrm>
          <a:prstGeom prst="rect">
            <a:avLst/>
          </a:prstGeom>
          <a:noFill/>
          <a:ln/>
        </p:spPr>
        <p:txBody>
          <a:bodyPr wrap="square" lIns="0" tIns="0" rIns="0" bIns="0" rtlCol="0" anchor="ctr"/>
          <a:lstStyle/>
          <a:p>
            <a:pPr indent="0" marL="0">
              <a:buNone/>
            </a:pPr>
            <a:r>
              <a:rPr lang="en-US" sz="1200" b="1" dirty="0">
                <a:solidFill>
                  <a:schemeClr val="accent6"/>
                </a:solidFill>
                <a:latin typeface="Calibri" pitchFamily="34" charset="0"/>
                <a:ea typeface="Calibri" pitchFamily="34" charset="-122"/>
                <a:cs typeface="Calibri" pitchFamily="34" charset="-120"/>
              </a:rPr>
              <a:t>.env  (project folder, gitignored)</a:t>
            </a:r>
            <a:endParaRPr lang="en-US" sz="1200" dirty="0"/>
          </a:p>
        </p:txBody>
      </p:sp>
      <p:sp>
        <p:nvSpPr>
          <p:cNvPr id="11" name="Env text"/>
          <p:cNvSpPr txBox="1"/>
          <p:nvPr/>
        </p:nvSpPr>
        <p:spPr>
          <a:xfrm>
            <a:off x="640080" y="4224528"/>
            <a:ext cx="7863840" cy="365760"/>
          </a:xfrm>
          <a:prstGeom prst="rect">
            <a:avLst/>
          </a:prstGeom>
          <a:noFill/>
          <a:ln/>
        </p:spPr>
        <p:txBody>
          <a:bodyPr wrap="square" lIns="0" tIns="0" rIns="0" bIns="0" rtlCol="0" anchor="ctr"/>
          <a:lstStyle/>
          <a:p>
            <a:pPr indent="0" marL="0">
              <a:buNone/>
            </a:pPr>
            <a:r>
              <a:rPr lang="en-US" sz="1200" dirty="0">
                <a:solidFill>
                  <a:schemeClr val="bg1"/>
                </a:solidFill>
                <a:latin typeface="Courier New" pitchFamily="34" charset="0"/>
                <a:ea typeface="Courier New" pitchFamily="34" charset="-122"/>
                <a:cs typeface="Courier New" pitchFamily="34" charset="-120"/>
              </a:rPr>
              <a:t>PORT=3001   EHS_MODE=sandbox   PO_MODE=sandbox   SAP_API_KEY=&lt;your own key&gt;</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What was verified</a:t>
            </a:r>
            <a:endParaRPr lang="en-US" sz="3600" dirty="0"/>
          </a:p>
        </p:txBody>
      </p:sp>
      <p:graphicFrame>
        <p:nvGraphicFramePr>
          <p:cNvPr id="7" name="Results table"/>
          <p:cNvGraphicFramePr>
            <a:graphicFrameLocks noGrp="1"/>
          </p:cNvGraphicFramePr>
          <p:nvPr>
            <p:extLst>
              <p:ext uri="{D42A27DB-BD31-4B8C-83A1-F6EECF244321}">
                <p14:modId xmlns:p14="http://schemas.microsoft.com/office/powerpoint/2010/main" val="1579011935"/>
              </p:ext>
            </p:extLst>
          </p:nvPr>
        </p:nvGraphicFramePr>
        <p:xfrm>
          <a:off x="457200" y="1234440"/>
          <a:ext cx="8229600" cy="914400"/>
        </p:xfrm>
        <a:graphic>
          <a:graphicData uri="http://schemas.openxmlformats.org/drawingml/2006/table">
            <a:tbl>
              <a:tblPr/>
              <a:tblGrid>
                <a:gridCol w="3657600"/>
                <a:gridCol w="4572000"/>
              </a:tblGrid>
              <a:tr h="475488">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Check</a:t>
                      </a:r>
                      <a:endParaRPr lang="en-US" sz="1400" dirty="0">
                        <a:latin typeface="Calibri" charset="0"/>
                        <a:ea typeface="Calibri" charset="0"/>
                        <a:cs typeface="Calibri" charset="0"/>
                      </a:endParaRPr>
                    </a:p>
                  </a:txBody>
                  <a:tcPr marL="109728" marR="109728" marT="0" marB="0" anchor="ctr">
                    <a:lnL w="9525" cap="flat" cmpd="sng" algn="ctr">
                      <a:solidFill>
                        <a:srgbClr val="C9D3DA"/>
                      </a:solidFill>
                      <a:prstDash val="solid"/>
                      <a:round/>
                      <a:headEnd type="none" w="med" len="med"/>
                      <a:tailEnd type="none" w="med" len="med"/>
                    </a:lnL>
                    <a:lnR w="9525" cap="flat" cmpd="sng" algn="ctr">
                      <a:solidFill>
                        <a:srgbClr val="C9D3DA"/>
                      </a:solidFill>
                      <a:prstDash val="solid"/>
                      <a:round/>
                      <a:headEnd type="none" w="med" len="med"/>
                      <a:tailEnd type="none" w="med" len="med"/>
                    </a:lnR>
                    <a:lnT w="9525" cap="flat" cmpd="sng" algn="ctr">
                      <a:solidFill>
                        <a:srgbClr val="C9D3DA"/>
                      </a:solidFill>
                      <a:prstDash val="solid"/>
                      <a:round/>
                      <a:headEnd type="none" w="med" len="med"/>
                      <a:tailEnd type="none" w="med" len="med"/>
                    </a:lnT>
                    <a:lnB w="9525" cap="flat" cmpd="sng" algn="ctr">
                      <a:solidFill>
                        <a:srgbClr val="C9D3DA"/>
                      </a:solidFill>
                      <a:prstDash val="solid"/>
                      <a:round/>
                      <a:headEnd type="none" w="med" len="med"/>
                      <a:tailEnd type="none" w="med" len="med"/>
                    </a:lnB>
                    <a:solidFill>
                      <a:schemeClr val="tx2"/>
                    </a:solidFill>
                  </a:tcPr>
                </a:tc>
                <a:tc>
                  <a:txBody>
                    <a:bodyPr/>
                    <a:lstStyle/>
                    <a:p>
                      <a:pPr indent="0" marL="0">
                        <a:buNone/>
                      </a:pPr>
                      <a:r>
                        <a:rPr lang="en-US" sz="1400" b="1" dirty="0">
                          <a:solidFill>
                            <a:schemeClr val="bg1"/>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109728" marR="109728" marT="0" marB="0" anchor="ctr">
                    <a:lnL w="9525" cap="flat" cmpd="sng" algn="ctr">
                      <a:solidFill>
                        <a:srgbClr val="C9D3DA"/>
                      </a:solidFill>
                      <a:prstDash val="solid"/>
                      <a:round/>
                      <a:headEnd type="none" w="med" len="med"/>
                      <a:tailEnd type="none" w="med" len="med"/>
                    </a:lnL>
                    <a:lnR w="9525" cap="flat" cmpd="sng" algn="ctr">
                      <a:solidFill>
                        <a:srgbClr val="C9D3DA"/>
                      </a:solidFill>
                      <a:prstDash val="solid"/>
                      <a:round/>
                      <a:headEnd type="none" w="med" len="med"/>
                      <a:tailEnd type="none" w="med" len="med"/>
                    </a:lnR>
                    <a:lnT w="9525" cap="flat" cmpd="sng" algn="ctr">
                      <a:solidFill>
                        <a:srgbClr val="C9D3DA"/>
                      </a:solidFill>
                      <a:prstDash val="solid"/>
                      <a:round/>
                      <a:headEnd type="none" w="med" len="med"/>
                      <a:tailEnd type="none" w="med" len="med"/>
                    </a:lnT>
                    <a:lnB w="9525" cap="flat" cmpd="sng" algn="ctr">
                      <a:solidFill>
                        <a:srgbClr val="C9D3DA"/>
                      </a:solidFill>
                      <a:prstDash val="solid"/>
                      <a:round/>
                      <a:headEnd type="none" w="med" len="med"/>
                      <a:tailEnd type="none" w="med" len="med"/>
                    </a:lnB>
                    <a:solidFill>
                      <a:schemeClr val="tx2"/>
                    </a:solidFill>
                  </a:tcPr>
                </a:tc>
              </a:tr>
              <a:tr h="47548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EHS: GET A_Incident</a:t>
                      </a:r>
                      <a:endParaRPr lang="en-US" sz="1400" dirty="0">
                        <a:latin typeface="Calibri" charset="0"/>
                        <a:ea typeface="Calibri" charset="0"/>
                        <a:cs typeface="Calibri" charset="0"/>
                      </a:endParaRPr>
                    </a:p>
                  </a:txBody>
                  <a:tcPr marL="109728" marR="109728" marT="0" marB="0" anchor="ctr">
                    <a:lnL w="9525" cap="flat" cmpd="sng" algn="ctr">
                      <a:solidFill>
                        <a:srgbClr val="C9D3DA"/>
                      </a:solidFill>
                      <a:prstDash val="solid"/>
                      <a:round/>
                      <a:headEnd type="none" w="med" len="med"/>
                      <a:tailEnd type="none" w="med" len="med"/>
                    </a:lnL>
                    <a:lnR w="9525" cap="flat" cmpd="sng" algn="ctr">
                      <a:solidFill>
                        <a:srgbClr val="C9D3DA"/>
                      </a:solidFill>
                      <a:prstDash val="solid"/>
                      <a:round/>
                      <a:headEnd type="none" w="med" len="med"/>
                      <a:tailEnd type="none" w="med" len="med"/>
                    </a:lnR>
                    <a:lnT w="9525" cap="flat" cmpd="sng" algn="ctr">
                      <a:solidFill>
                        <a:srgbClr val="C9D3DA"/>
                      </a:solidFill>
                      <a:prstDash val="solid"/>
                      <a:round/>
                      <a:headEnd type="none" w="med" len="med"/>
                      <a:tailEnd type="none" w="med" len="med"/>
                    </a:lnT>
                    <a:lnB w="9525" cap="flat" cmpd="sng" algn="ctr">
                      <a:solidFill>
                        <a:srgbClr val="C9D3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HTTP 200 · mode sandbox · 10 incidents</a:t>
                      </a:r>
                      <a:endParaRPr lang="en-US" sz="1400" dirty="0">
                        <a:latin typeface="Calibri" charset="0"/>
                        <a:ea typeface="Calibri" charset="0"/>
                        <a:cs typeface="Calibri" charset="0"/>
                      </a:endParaRPr>
                    </a:p>
                  </a:txBody>
                  <a:tcPr marL="109728" marR="109728" marT="0" marB="0" anchor="ctr">
                    <a:lnL w="9525" cap="flat" cmpd="sng" algn="ctr">
                      <a:solidFill>
                        <a:srgbClr val="C9D3DA"/>
                      </a:solidFill>
                      <a:prstDash val="solid"/>
                      <a:round/>
                      <a:headEnd type="none" w="med" len="med"/>
                      <a:tailEnd type="none" w="med" len="med"/>
                    </a:lnL>
                    <a:lnR w="9525" cap="flat" cmpd="sng" algn="ctr">
                      <a:solidFill>
                        <a:srgbClr val="C9D3DA"/>
                      </a:solidFill>
                      <a:prstDash val="solid"/>
                      <a:round/>
                      <a:headEnd type="none" w="med" len="med"/>
                      <a:tailEnd type="none" w="med" len="med"/>
                    </a:lnR>
                    <a:lnT w="9525" cap="flat" cmpd="sng" algn="ctr">
                      <a:solidFill>
                        <a:srgbClr val="C9D3DA"/>
                      </a:solidFill>
                      <a:prstDash val="solid"/>
                      <a:round/>
                      <a:headEnd type="none" w="med" len="med"/>
                      <a:tailEnd type="none" w="med" len="med"/>
                    </a:lnT>
                    <a:lnB w="9525" cap="flat" cmpd="sng" algn="ctr">
                      <a:solidFill>
                        <a:srgbClr val="C9D3DA"/>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PO: GET A_PurchaseOrderItem</a:t>
                      </a:r>
                      <a:endParaRPr lang="en-US" sz="1400" dirty="0">
                        <a:latin typeface="Calibri" charset="0"/>
                        <a:ea typeface="Calibri" charset="0"/>
                        <a:cs typeface="Calibri" charset="0"/>
                      </a:endParaRPr>
                    </a:p>
                  </a:txBody>
                  <a:tcPr marL="109728" marR="109728" marT="0" marB="0" anchor="ctr">
                    <a:lnL w="9525" cap="flat" cmpd="sng" algn="ctr">
                      <a:solidFill>
                        <a:srgbClr val="C9D3DA"/>
                      </a:solidFill>
                      <a:prstDash val="solid"/>
                      <a:round/>
                      <a:headEnd type="none" w="med" len="med"/>
                      <a:tailEnd type="none" w="med" len="med"/>
                    </a:lnL>
                    <a:lnR w="9525" cap="flat" cmpd="sng" algn="ctr">
                      <a:solidFill>
                        <a:srgbClr val="C9D3DA"/>
                      </a:solidFill>
                      <a:prstDash val="solid"/>
                      <a:round/>
                      <a:headEnd type="none" w="med" len="med"/>
                      <a:tailEnd type="none" w="med" len="med"/>
                    </a:lnR>
                    <a:lnT w="9525" cap="flat" cmpd="sng" algn="ctr">
                      <a:solidFill>
                        <a:srgbClr val="C9D3DA"/>
                      </a:solidFill>
                      <a:prstDash val="solid"/>
                      <a:round/>
                      <a:headEnd type="none" w="med" len="med"/>
                      <a:tailEnd type="none" w="med" len="med"/>
                    </a:lnT>
                    <a:lnB w="9525" cap="flat" cmpd="sng" algn="ctr">
                      <a:solidFill>
                        <a:srgbClr val="C9D3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HTTP 200 · mode sandbox · 5 items</a:t>
                      </a:r>
                      <a:endParaRPr lang="en-US" sz="1400" dirty="0">
                        <a:latin typeface="Calibri" charset="0"/>
                        <a:ea typeface="Calibri" charset="0"/>
                        <a:cs typeface="Calibri" charset="0"/>
                      </a:endParaRPr>
                    </a:p>
                  </a:txBody>
                  <a:tcPr marL="109728" marR="109728" marT="0" marB="0" anchor="ctr">
                    <a:lnL w="9525" cap="flat" cmpd="sng" algn="ctr">
                      <a:solidFill>
                        <a:srgbClr val="C9D3DA"/>
                      </a:solidFill>
                      <a:prstDash val="solid"/>
                      <a:round/>
                      <a:headEnd type="none" w="med" len="med"/>
                      <a:tailEnd type="none" w="med" len="med"/>
                    </a:lnL>
                    <a:lnR w="9525" cap="flat" cmpd="sng" algn="ctr">
                      <a:solidFill>
                        <a:srgbClr val="C9D3DA"/>
                      </a:solidFill>
                      <a:prstDash val="solid"/>
                      <a:round/>
                      <a:headEnd type="none" w="med" len="med"/>
                      <a:tailEnd type="none" w="med" len="med"/>
                    </a:lnR>
                    <a:lnT w="9525" cap="flat" cmpd="sng" algn="ctr">
                      <a:solidFill>
                        <a:srgbClr val="C9D3DA"/>
                      </a:solidFill>
                      <a:prstDash val="solid"/>
                      <a:round/>
                      <a:headEnd type="none" w="med" len="med"/>
                      <a:tailEnd type="none" w="med" len="med"/>
                    </a:lnT>
                    <a:lnB w="9525" cap="flat" cmpd="sng" algn="ctr">
                      <a:solidFill>
                        <a:srgbClr val="C9D3DA"/>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App header</a:t>
                      </a:r>
                      <a:endParaRPr lang="en-US" sz="1400" dirty="0">
                        <a:latin typeface="Calibri" charset="0"/>
                        <a:ea typeface="Calibri" charset="0"/>
                        <a:cs typeface="Calibri" charset="0"/>
                      </a:endParaRPr>
                    </a:p>
                  </a:txBody>
                  <a:tcPr marL="109728" marR="109728" marT="0" marB="0" anchor="ctr">
                    <a:lnL w="9525" cap="flat" cmpd="sng" algn="ctr">
                      <a:solidFill>
                        <a:srgbClr val="C9D3DA"/>
                      </a:solidFill>
                      <a:prstDash val="solid"/>
                      <a:round/>
                      <a:headEnd type="none" w="med" len="med"/>
                      <a:tailEnd type="none" w="med" len="med"/>
                    </a:lnL>
                    <a:lnR w="9525" cap="flat" cmpd="sng" algn="ctr">
                      <a:solidFill>
                        <a:srgbClr val="C9D3DA"/>
                      </a:solidFill>
                      <a:prstDash val="solid"/>
                      <a:round/>
                      <a:headEnd type="none" w="med" len="med"/>
                      <a:tailEnd type="none" w="med" len="med"/>
                    </a:lnR>
                    <a:lnT w="9525" cap="flat" cmpd="sng" algn="ctr">
                      <a:solidFill>
                        <a:srgbClr val="C9D3DA"/>
                      </a:solidFill>
                      <a:prstDash val="solid"/>
                      <a:round/>
                      <a:headEnd type="none" w="med" len="med"/>
                      <a:tailEnd type="none" w="med" len="med"/>
                    </a:lnT>
                    <a:lnB w="9525" cap="flat" cmpd="sng" algn="ctr">
                      <a:solidFill>
                        <a:srgbClr val="C9D3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EHS: sandbox · PO: sandbox</a:t>
                      </a:r>
                      <a:endParaRPr lang="en-US" sz="1400" dirty="0">
                        <a:latin typeface="Calibri" charset="0"/>
                        <a:ea typeface="Calibri" charset="0"/>
                        <a:cs typeface="Calibri" charset="0"/>
                      </a:endParaRPr>
                    </a:p>
                  </a:txBody>
                  <a:tcPr marL="109728" marR="109728" marT="0" marB="0" anchor="ctr">
                    <a:lnL w="9525" cap="flat" cmpd="sng" algn="ctr">
                      <a:solidFill>
                        <a:srgbClr val="C9D3DA"/>
                      </a:solidFill>
                      <a:prstDash val="solid"/>
                      <a:round/>
                      <a:headEnd type="none" w="med" len="med"/>
                      <a:tailEnd type="none" w="med" len="med"/>
                    </a:lnL>
                    <a:lnR w="9525" cap="flat" cmpd="sng" algn="ctr">
                      <a:solidFill>
                        <a:srgbClr val="C9D3DA"/>
                      </a:solidFill>
                      <a:prstDash val="solid"/>
                      <a:round/>
                      <a:headEnd type="none" w="med" len="med"/>
                      <a:tailEnd type="none" w="med" len="med"/>
                    </a:lnR>
                    <a:lnT w="9525" cap="flat" cmpd="sng" algn="ctr">
                      <a:solidFill>
                        <a:srgbClr val="C9D3DA"/>
                      </a:solidFill>
                      <a:prstDash val="solid"/>
                      <a:round/>
                      <a:headEnd type="none" w="med" len="med"/>
                      <a:tailEnd type="none" w="med" len="med"/>
                    </a:lnT>
                    <a:lnB w="9525" cap="flat" cmpd="sng" algn="ctr">
                      <a:solidFill>
                        <a:srgbClr val="C9D3DA"/>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Dropdowns on the Report tab</a:t>
                      </a:r>
                      <a:endParaRPr lang="en-US" sz="1400" dirty="0">
                        <a:latin typeface="Calibri" charset="0"/>
                        <a:ea typeface="Calibri" charset="0"/>
                        <a:cs typeface="Calibri" charset="0"/>
                      </a:endParaRPr>
                    </a:p>
                  </a:txBody>
                  <a:tcPr marL="109728" marR="109728" marT="0" marB="0" anchor="ctr">
                    <a:lnL w="9525" cap="flat" cmpd="sng" algn="ctr">
                      <a:solidFill>
                        <a:srgbClr val="C9D3DA"/>
                      </a:solidFill>
                      <a:prstDash val="solid"/>
                      <a:round/>
                      <a:headEnd type="none" w="med" len="med"/>
                      <a:tailEnd type="none" w="med" len="med"/>
                    </a:lnL>
                    <a:lnR w="9525" cap="flat" cmpd="sng" algn="ctr">
                      <a:solidFill>
                        <a:srgbClr val="C9D3DA"/>
                      </a:solidFill>
                      <a:prstDash val="solid"/>
                      <a:round/>
                      <a:headEnd type="none" w="med" len="med"/>
                      <a:tailEnd type="none" w="med" len="med"/>
                    </a:lnR>
                    <a:lnT w="9525" cap="flat" cmpd="sng" algn="ctr">
                      <a:solidFill>
                        <a:srgbClr val="C9D3DA"/>
                      </a:solidFill>
                      <a:prstDash val="solid"/>
                      <a:round/>
                      <a:headEnd type="none" w="med" len="med"/>
                      <a:tailEnd type="none" w="med" len="med"/>
                    </a:lnT>
                    <a:lnB w="9525" cap="flat" cmpd="sng" algn="ctr">
                      <a:solidFill>
                        <a:srgbClr val="C9D3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Both filled with SAP records</a:t>
                      </a:r>
                      <a:endParaRPr lang="en-US" sz="1400" dirty="0">
                        <a:latin typeface="Calibri" charset="0"/>
                        <a:ea typeface="Calibri" charset="0"/>
                        <a:cs typeface="Calibri" charset="0"/>
                      </a:endParaRPr>
                    </a:p>
                  </a:txBody>
                  <a:tcPr marL="109728" marR="109728" marT="0" marB="0" anchor="ctr">
                    <a:lnL w="9525" cap="flat" cmpd="sng" algn="ctr">
                      <a:solidFill>
                        <a:srgbClr val="C9D3DA"/>
                      </a:solidFill>
                      <a:prstDash val="solid"/>
                      <a:round/>
                      <a:headEnd type="none" w="med" len="med"/>
                      <a:tailEnd type="none" w="med" len="med"/>
                    </a:lnL>
                    <a:lnR w="9525" cap="flat" cmpd="sng" algn="ctr">
                      <a:solidFill>
                        <a:srgbClr val="C9D3DA"/>
                      </a:solidFill>
                      <a:prstDash val="solid"/>
                      <a:round/>
                      <a:headEnd type="none" w="med" len="med"/>
                      <a:tailEnd type="none" w="med" len="med"/>
                    </a:lnR>
                    <a:lnT w="9525" cap="flat" cmpd="sng" algn="ctr">
                      <a:solidFill>
                        <a:srgbClr val="C9D3DA"/>
                      </a:solidFill>
                      <a:prstDash val="solid"/>
                      <a:round/>
                      <a:headEnd type="none" w="med" len="med"/>
                      <a:tailEnd type="none" w="med" len="med"/>
                    </a:lnT>
                    <a:lnB w="9525" cap="flat" cmpd="sng" algn="ctr">
                      <a:solidFill>
                        <a:srgbClr val="C9D3DA"/>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latin typeface="Calibri" pitchFamily="34" charset="0"/>
                          <a:ea typeface="Calibri" pitchFamily="34" charset="-122"/>
                          <a:cs typeface="Calibri" pitchFamily="34" charset="-120"/>
                        </a:rPr>
                        <a:t>API key in browser-side files</a:t>
                      </a:r>
                      <a:endParaRPr lang="en-US" sz="1400" dirty="0">
                        <a:latin typeface="Calibri" charset="0"/>
                        <a:ea typeface="Calibri" charset="0"/>
                        <a:cs typeface="Calibri" charset="0"/>
                      </a:endParaRPr>
                    </a:p>
                  </a:txBody>
                  <a:tcPr marL="109728" marR="109728" marT="0" marB="0" anchor="ctr">
                    <a:lnL w="9525" cap="flat" cmpd="sng" algn="ctr">
                      <a:solidFill>
                        <a:srgbClr val="C9D3DA"/>
                      </a:solidFill>
                      <a:prstDash val="solid"/>
                      <a:round/>
                      <a:headEnd type="none" w="med" len="med"/>
                      <a:tailEnd type="none" w="med" len="med"/>
                    </a:lnL>
                    <a:lnR w="9525" cap="flat" cmpd="sng" algn="ctr">
                      <a:solidFill>
                        <a:srgbClr val="C9D3DA"/>
                      </a:solidFill>
                      <a:prstDash val="solid"/>
                      <a:round/>
                      <a:headEnd type="none" w="med" len="med"/>
                      <a:tailEnd type="none" w="med" len="med"/>
                    </a:lnR>
                    <a:lnT w="9525" cap="flat" cmpd="sng" algn="ctr">
                      <a:solidFill>
                        <a:srgbClr val="C9D3DA"/>
                      </a:solidFill>
                      <a:prstDash val="solid"/>
                      <a:round/>
                      <a:headEnd type="none" w="med" len="med"/>
                      <a:tailEnd type="none" w="med" len="med"/>
                    </a:lnT>
                    <a:lnB w="9525" cap="flat" cmpd="sng" algn="ctr">
                      <a:solidFill>
                        <a:srgbClr val="C9D3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latin typeface="Calibri" pitchFamily="34" charset="0"/>
                          <a:ea typeface="Calibri" pitchFamily="34" charset="-122"/>
                          <a:cs typeface="Calibri" pitchFamily="34" charset="-120"/>
                        </a:rPr>
                        <a:t>Not found (server side only)</a:t>
                      </a:r>
                      <a:endParaRPr lang="en-US" sz="1400" dirty="0">
                        <a:latin typeface="Calibri" charset="0"/>
                        <a:ea typeface="Calibri" charset="0"/>
                        <a:cs typeface="Calibri" charset="0"/>
                      </a:endParaRPr>
                    </a:p>
                  </a:txBody>
                  <a:tcPr marL="109728" marR="109728" marT="0" marB="0" anchor="ctr">
                    <a:lnL w="9525" cap="flat" cmpd="sng" algn="ctr">
                      <a:solidFill>
                        <a:srgbClr val="C9D3DA"/>
                      </a:solidFill>
                      <a:prstDash val="solid"/>
                      <a:round/>
                      <a:headEnd type="none" w="med" len="med"/>
                      <a:tailEnd type="none" w="med" len="med"/>
                    </a:lnL>
                    <a:lnR w="9525" cap="flat" cmpd="sng" algn="ctr">
                      <a:solidFill>
                        <a:srgbClr val="C9D3DA"/>
                      </a:solidFill>
                      <a:prstDash val="solid"/>
                      <a:round/>
                      <a:headEnd type="none" w="med" len="med"/>
                      <a:tailEnd type="none" w="med" len="med"/>
                    </a:lnR>
                    <a:lnT w="9525" cap="flat" cmpd="sng" algn="ctr">
                      <a:solidFill>
                        <a:srgbClr val="C9D3DA"/>
                      </a:solidFill>
                      <a:prstDash val="solid"/>
                      <a:round/>
                      <a:headEnd type="none" w="med" len="med"/>
                      <a:tailEnd type="none" w="med" len="med"/>
                    </a:lnT>
                    <a:lnB w="9525" cap="flat" cmpd="sng" algn="ctr">
                      <a:solidFill>
                        <a:srgbClr val="C9D3DA"/>
                      </a:solidFill>
                      <a:prstDash val="solid"/>
                      <a:round/>
                      <a:headEnd type="none" w="med" len="med"/>
                      <a:tailEnd type="none" w="med" len="med"/>
                    </a:lnB>
                    <a:solidFill>
                      <a:schemeClr val="bg1"/>
                    </a:solidFill>
                  </a:tcPr>
                </a:tc>
              </a:tr>
            </a:tbl>
          </a:graphicData>
        </a:graphic>
      </p:graphicFrame>
      <p:sp>
        <p:nvSpPr>
          <p:cNvPr id="4" name="Table note"/>
          <p:cNvSpPr txBox="1"/>
          <p:nvPr/>
        </p:nvSpPr>
        <p:spPr>
          <a:xfrm>
            <a:off x="457200" y="4251960"/>
            <a:ext cx="8229600" cy="502920"/>
          </a:xfrm>
          <a:prstGeom prst="rect">
            <a:avLst/>
          </a:prstGeom>
          <a:noFill/>
          <a:ln/>
        </p:spPr>
        <p:txBody>
          <a:bodyPr wrap="square" lIns="0" tIns="0" rIns="0" bIns="0" rtlCol="0" anchor="t"/>
          <a:lstStyle/>
          <a:p>
            <a:pPr indent="0" marL="0">
              <a:buNone/>
            </a:pPr>
            <a:r>
              <a:rPr lang="en-US" sz="1200" dirty="0">
                <a:solidFill>
                  <a:schemeClr val="accent4"/>
                </a:solidFill>
                <a:latin typeface="Calibri" pitchFamily="34" charset="0"/>
                <a:ea typeface="Calibri" pitchFamily="34" charset="-122"/>
                <a:cs typeface="Calibri" pitchFamily="34" charset="-120"/>
              </a:rPr>
              <a:t>The first 3 EHS records equal the built-in mock sample, which was copied from a real response. Records with ID 11 and above exist only in the live data.</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77240"/>
          </a:xfrm>
          <a:prstGeom prst="rect">
            <a:avLst/>
          </a:prstGeom>
          <a:noFill/>
          <a:ln/>
        </p:spPr>
        <p:txBody>
          <a:bodyPr wrap="square" lIns="0" tIns="0" rIns="0" bIns="0" rtlCol="0" anchor="ctr"/>
          <a:lstStyle/>
          <a:p>
            <a:pPr indent="0" marL="0">
              <a:buNone/>
            </a:pPr>
            <a:r>
              <a:rPr lang="en-US" sz="3600" b="1" dirty="0">
                <a:solidFill>
                  <a:schemeClr val="tx2"/>
                </a:solidFill>
                <a:latin typeface="Cambria" pitchFamily="34" charset="0"/>
                <a:ea typeface="Cambria" pitchFamily="34" charset="-122"/>
                <a:cs typeface="Cambria" pitchFamily="34" charset="-120"/>
              </a:rPr>
              <a:t>Limits and next steps</a:t>
            </a:r>
            <a:endParaRPr lang="en-US" sz="3600" dirty="0"/>
          </a:p>
        </p:txBody>
      </p:sp>
      <p:sp>
        <p:nvSpPr>
          <p:cNvPr id="3" name="Limits card"/>
          <p:cNvSpPr/>
          <p:nvPr/>
        </p:nvSpPr>
        <p:spPr>
          <a:xfrm>
            <a:off x="457200" y="1280160"/>
            <a:ext cx="4023360" cy="3200400"/>
          </a:xfrm>
          <a:prstGeom prst="roundRect">
            <a:avLst>
              <a:gd name="adj" fmla="val 2857"/>
            </a:avLst>
          </a:prstGeom>
          <a:solidFill>
            <a:schemeClr val="bg2"/>
          </a:solidFill>
          <a:ln/>
          <a:effectLst>
            <a:outerShdw sx="100000" sy="100000" kx="0" ky="0" algn="bl" rotWithShape="0" blurRad="101600" dist="25400" dir="5400000">
              <a:srgbClr val="000000">
                <a:alpha val="12000"/>
              </a:srgbClr>
            </a:outerShdw>
          </a:effectLst>
        </p:spPr>
      </p:sp>
      <p:sp>
        <p:nvSpPr>
          <p:cNvPr id="4" name="Limits circle"/>
          <p:cNvSpPr/>
          <p:nvPr/>
        </p:nvSpPr>
        <p:spPr>
          <a:xfrm>
            <a:off x="640080" y="1417320"/>
            <a:ext cx="502920" cy="502920"/>
          </a:xfrm>
          <a:prstGeom prst="ellipse">
            <a:avLst/>
          </a:prstGeom>
          <a:solidFill>
            <a:schemeClr val="accent5"/>
          </a:solidFill>
          <a:ln/>
        </p:spPr>
      </p:sp>
      <p:pic>
        <p:nvPicPr>
          <p:cNvPr id="5" name="Limits icon" descr="preencoded.png">    </p:cNvPr>
          <p:cNvPicPr>
            <a:picLocks noChangeAspect="1"/>
          </p:cNvPicPr>
          <p:nvPr/>
        </p:nvPicPr>
        <p:blipFill>
          <a:blip r:embed="rId1"/>
          <a:stretch>
            <a:fillRect/>
          </a:stretch>
        </p:blipFill>
        <p:spPr>
          <a:xfrm>
            <a:off x="768096" y="1545336"/>
            <a:ext cx="246888" cy="246888"/>
          </a:xfrm>
          <a:prstGeom prst="rect">
            <a:avLst/>
          </a:prstGeom>
        </p:spPr>
      </p:pic>
      <p:sp>
        <p:nvSpPr>
          <p:cNvPr id="6" name="Limits head"/>
          <p:cNvSpPr txBox="1"/>
          <p:nvPr/>
        </p:nvSpPr>
        <p:spPr>
          <a:xfrm>
            <a:off x="1280160" y="1417320"/>
            <a:ext cx="3017520" cy="5029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Limits</a:t>
            </a:r>
            <a:endParaRPr lang="en-US" sz="2000" dirty="0"/>
          </a:p>
        </p:txBody>
      </p:sp>
      <p:sp>
        <p:nvSpPr>
          <p:cNvPr id="7" name="Limits list"/>
          <p:cNvSpPr txBox="1"/>
          <p:nvPr/>
        </p:nvSpPr>
        <p:spPr>
          <a:xfrm>
            <a:off x="685800" y="2103120"/>
            <a:ext cx="36118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Read-only: GET calls only</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Sandbox sample data, not bus data</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Direct API Hub call; fit with the Lab guidelines not yet confirmed</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New disruptions stay in the app store, not in SAP</a:t>
            </a:r>
            <a:endParaRPr lang="en-US" sz="1400" dirty="0"/>
          </a:p>
        </p:txBody>
      </p:sp>
      <p:sp>
        <p:nvSpPr>
          <p:cNvPr id="8" name="Next card"/>
          <p:cNvSpPr/>
          <p:nvPr/>
        </p:nvSpPr>
        <p:spPr>
          <a:xfrm>
            <a:off x="4663440" y="1280160"/>
            <a:ext cx="4023360" cy="3200400"/>
          </a:xfrm>
          <a:prstGeom prst="roundRect">
            <a:avLst>
              <a:gd name="adj" fmla="val 2857"/>
            </a:avLst>
          </a:prstGeom>
          <a:solidFill>
            <a:schemeClr val="bg2"/>
          </a:solidFill>
          <a:ln/>
          <a:effectLst>
            <a:outerShdw sx="100000" sy="100000" kx="0" ky="0" algn="bl" rotWithShape="0" blurRad="101600" dist="25400" dir="5400000">
              <a:srgbClr val="000000">
                <a:alpha val="12000"/>
              </a:srgbClr>
            </a:outerShdw>
          </a:effectLst>
        </p:spPr>
      </p:sp>
      <p:sp>
        <p:nvSpPr>
          <p:cNvPr id="9" name="Next circle"/>
          <p:cNvSpPr/>
          <p:nvPr/>
        </p:nvSpPr>
        <p:spPr>
          <a:xfrm>
            <a:off x="4846320" y="1417320"/>
            <a:ext cx="502920" cy="502920"/>
          </a:xfrm>
          <a:prstGeom prst="ellipse">
            <a:avLst/>
          </a:prstGeom>
          <a:solidFill>
            <a:schemeClr val="accent3"/>
          </a:solidFill>
          <a:ln/>
        </p:spPr>
      </p:sp>
      <p:pic>
        <p:nvPicPr>
          <p:cNvPr id="10" name="Next icon" descr="preencoded.png">    </p:cNvPr>
          <p:cNvPicPr>
            <a:picLocks noChangeAspect="1"/>
          </p:cNvPicPr>
          <p:nvPr/>
        </p:nvPicPr>
        <p:blipFill>
          <a:blip r:embed="rId2"/>
          <a:stretch>
            <a:fillRect/>
          </a:stretch>
        </p:blipFill>
        <p:spPr>
          <a:xfrm>
            <a:off x="4974336" y="1545336"/>
            <a:ext cx="246888" cy="246888"/>
          </a:xfrm>
          <a:prstGeom prst="rect">
            <a:avLst/>
          </a:prstGeom>
        </p:spPr>
      </p:pic>
      <p:sp>
        <p:nvSpPr>
          <p:cNvPr id="11" name="Next head"/>
          <p:cNvSpPr txBox="1"/>
          <p:nvPr/>
        </p:nvSpPr>
        <p:spPr>
          <a:xfrm>
            <a:off x="5486400" y="1417320"/>
            <a:ext cx="3017520" cy="502920"/>
          </a:xfrm>
          <a:prstGeom prst="rect">
            <a:avLst/>
          </a:prstGeom>
          <a:noFill/>
          <a:ln/>
        </p:spPr>
        <p:txBody>
          <a:bodyPr wrap="square" lIns="0" tIns="0" rIns="0" bIns="0" rtlCol="0" anchor="ctr"/>
          <a:lstStyle/>
          <a:p>
            <a:pPr indent="0" marL="0">
              <a:buNone/>
            </a:pPr>
            <a:r>
              <a:rPr lang="en-US" sz="2000" b="1" dirty="0">
                <a:solidFill>
                  <a:schemeClr val="tx2"/>
                </a:solidFill>
                <a:latin typeface="Cambria" pitchFamily="34" charset="0"/>
                <a:ea typeface="Cambria" pitchFamily="34" charset="-122"/>
                <a:cs typeface="Cambria" pitchFamily="34" charset="-120"/>
              </a:rPr>
              <a:t>Next steps</a:t>
            </a:r>
            <a:endParaRPr lang="en-US" sz="2000" dirty="0"/>
          </a:p>
        </p:txBody>
      </p:sp>
      <p:sp>
        <p:nvSpPr>
          <p:cNvPr id="12" name="Next list"/>
          <p:cNvSpPr txBox="1"/>
          <p:nvPr/>
        </p:nvSpPr>
        <p:spPr>
          <a:xfrm>
            <a:off x="4892040" y="2103120"/>
            <a:ext cx="3611880" cy="2286000"/>
          </a:xfrm>
          <a:prstGeom prst="rect">
            <a:avLst/>
          </a:prstGeom>
          <a:noFill/>
          <a:ln/>
        </p:spPr>
        <p:txBody>
          <a:bodyPr wrap="square" lIns="0" tIns="0" rIns="0" bIns="0" rtlCol="0" anchor="t"/>
          <a:lstStyle/>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Confirm sandbox use with the lecturer</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UI polish and usability pass in opencode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Slides (SCR) and the groupwork slide</a:t>
            </a:r>
            <a:endParaRPr lang="en-US" sz="1400" dirty="0"/>
          </a:p>
          <a:p>
            <a:pPr marL="342900" indent="-342900">
              <a:spcAft>
                <a:spcPts val="600"/>
              </a:spcAft>
              <a:buSzPct val="100000"/>
              <a:buChar char="•"/>
            </a:pPr>
            <a:r>
              <a:rPr lang="en-US" sz="1400" dirty="0">
                <a:solidFill>
                  <a:schemeClr val="tx1"/>
                </a:solidFill>
                <a:latin typeface="Calibri" pitchFamily="34" charset="0"/>
                <a:ea typeface="Calibri" pitchFamily="34" charset="-122"/>
                <a:cs typeface="Calibri" pitchFamily="34" charset="-120"/>
              </a:rPr>
              <a:t>Rotate the API key that was exposed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theme/theme1.xml><?xml version="1.0" encoding="utf-8"?>
<a:theme xmlns:a="http://schemas.openxmlformats.org/drawingml/2006/main" name="SAP API Check">
  <a:themeElements>
    <a:clrScheme name="SAP API Check">
      <a:dk1>
        <a:srgbClr val="1B2A33"/>
      </a:dk1>
      <a:lt1>
        <a:srgbClr val="FFFFFF"/>
      </a:lt1>
      <a:dk2>
        <a:srgbClr val="0B3C5D"/>
      </a:dk2>
      <a:lt2>
        <a:srgbClr val="EEF3F6"/>
      </a:lt2>
      <a:accent1>
        <a:srgbClr val="1C7293"/>
      </a:accent1>
      <a:accent2>
        <a:srgbClr val="F4A259"/>
      </a:accent2>
      <a:accent3>
        <a:srgbClr val="2E9E6B"/>
      </a:accent3>
      <a:accent4>
        <a:srgbClr val="5B6B76"/>
      </a:accent4>
      <a:accent5>
        <a:srgbClr val="C2410C"/>
      </a:accent5>
      <a:accent6>
        <a:srgbClr val="7FB8CC"/>
      </a:accent6>
      <a:hlink>
        <a:srgbClr val="1C7293"/>
      </a:hlink>
      <a:folHlink>
        <a:srgbClr val="5B6B76"/>
      </a:folHlink>
    </a:clrScheme>
    <a:fontScheme name="SAP API Chec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Testing SAP EHS and PO APIs from opencode.ai</dc:title>
  <dc:subject>PptxGenJS Presentation</dc:subject>
  <dc:creator>PptxGenJS</dc:creator>
  <cp:lastModifiedBy>PptxGenJS</cp:lastModifiedBy>
  <cp:revision>1</cp:revision>
  <dcterms:created xsi:type="dcterms:W3CDTF">2026-10-10T04:45:02Z</dcterms:created>
  <dcterms:modified xsi:type="dcterms:W3CDTF">2026-10-10T04:45:02Z</dcterms:modified>
</cp:coreProperties>
</file>